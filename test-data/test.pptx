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 Planned</c:v>
                </c:pt>
              </c:strCache>
            </c:strRef>
          </c:tx>
          <c:spPr>
            <a:solidFill>
              <a:srgbClr val="B85042"/>
            </a:solidFill>
            <a:effectLst/>
          </c:spPr>
          <c:invertIfNegative val="0"/>
          <c:dLbls>
            <c:numFmt formatCode="#,##0" sourceLinked="0"/>
            <c:txPr>
              <a:bodyPr/>
              <a:lstStyle/>
              <a:p>
                <a:pPr>
                  <a:defRPr b="0" i="0" strike="noStrike" sz="1100" u="none">
                    <a:solidFill>
                      <a:srgbClr val="2C2C2C"/>
                    </a:solidFill>
                    <a:latin typeface="Arial"/>
                  </a:defRPr>
                </a:pPr>
              </a:p>
            </c:txPr>
            <c:showLegendKey val="0"/>
            <c:showVal val="1"/>
            <c:showCatName val="0"/>
            <c:showSerName val="0"/>
            <c:showPercent val="0"/>
            <c:showBubbleSize val="0"/>
            <c:showLeaderLines val="0"/>
          </c:dLbls>
          <c:cat>
            <c:multiLvlStrRef>
              <c:f>Sheet1!$A$2:$A$8</c:f>
              <c:multiLvlStrCache>
                <c:ptCount val="7"/>
                <c:lvl>
                  <c:pt idx="0">
                    <c:v>Foundation</c:v>
                  </c:pt>
                  <c:pt idx="1">
                    <c:v>Basement</c:v>
                  </c:pt>
                  <c:pt idx="2">
                    <c:v>Floors 1–10</c:v>
                  </c:pt>
                  <c:pt idx="3">
                    <c:v>Floors 11–20</c:v>
                  </c:pt>
                  <c:pt idx="4">
                    <c:v>MEP Rough-in</c:v>
                  </c:pt>
                  <c:pt idx="5">
                    <c:v>Facade</c:v>
                  </c:pt>
                  <c:pt idx="6">
                    <c:v>Finishing</c:v>
                  </c:pt>
                </c:lvl>
              </c:multiLvlStrCache>
            </c:multiLvlStrRef>
          </c:cat>
          <c:val>
            <c:numRef>
              <c:f>Sheet1!$B$2:$B$8</c:f>
              <c:numCache>
                <c:formatCode>General</c:formatCode>
                <c:ptCount val="7"/>
                <c:pt idx="0">
                  <c:v>100</c:v>
                </c:pt>
                <c:pt idx="1">
                  <c:v>100</c:v>
                </c:pt>
                <c:pt idx="2">
                  <c:v>100</c:v>
                </c:pt>
                <c:pt idx="3">
                  <c:v>65</c:v>
                </c:pt>
                <c:pt idx="4">
                  <c:v>40</c:v>
                </c:pt>
                <c:pt idx="5">
                  <c:v>10</c:v>
                </c:pt>
                <c:pt idx="6">
                  <c:v>0</c:v>
                </c:pt>
              </c:numCache>
            </c:numRef>
          </c:val>
        </c:ser>
        <c:ser>
          <c:idx val="1"/>
          <c:order val="1"/>
          <c:tx>
            <c:strRef>
              <c:f>Sheet1!$C$1</c:f>
              <c:strCache>
                <c:ptCount val="1"/>
                <c:pt idx="0">
                  <c:v>% Actual</c:v>
                </c:pt>
              </c:strCache>
            </c:strRef>
          </c:tx>
          <c:spPr>
            <a:solidFill>
              <a:srgbClr val="F0A500"/>
            </a:solidFill>
            <a:effectLst/>
          </c:spPr>
          <c:invertIfNegative val="0"/>
          <c:dLbls>
            <c:numFmt formatCode="#,##0" sourceLinked="0"/>
            <c:txPr>
              <a:bodyPr/>
              <a:lstStyle/>
              <a:p>
                <a:pPr>
                  <a:defRPr b="0" i="0" strike="noStrike" sz="1100" u="none">
                    <a:solidFill>
                      <a:srgbClr val="2C2C2C"/>
                    </a:solidFill>
                    <a:latin typeface="Arial"/>
                  </a:defRPr>
                </a:pPr>
              </a:p>
            </c:txPr>
            <c:showLegendKey val="0"/>
            <c:showVal val="1"/>
            <c:showCatName val="0"/>
            <c:showSerName val="0"/>
            <c:showPercent val="0"/>
            <c:showBubbleSize val="0"/>
            <c:showLeaderLines val="0"/>
          </c:dLbls>
          <c:cat>
            <c:multiLvlStrRef>
              <c:f>Sheet1!$A$2:$A$8</c:f>
              <c:multiLvlStrCache>
                <c:ptCount val="7"/>
                <c:lvl>
                  <c:pt idx="0">
                    <c:v>Foundation</c:v>
                  </c:pt>
                  <c:pt idx="1">
                    <c:v>Basement</c:v>
                  </c:pt>
                  <c:pt idx="2">
                    <c:v>Floors 1–10</c:v>
                  </c:pt>
                  <c:pt idx="3">
                    <c:v>Floors 11–20</c:v>
                  </c:pt>
                  <c:pt idx="4">
                    <c:v>MEP Rough-in</c:v>
                  </c:pt>
                  <c:pt idx="5">
                    <c:v>Facade</c:v>
                  </c:pt>
                  <c:pt idx="6">
                    <c:v>Finishing</c:v>
                  </c:pt>
                </c:lvl>
              </c:multiLvlStrCache>
            </c:multiLvlStrRef>
          </c:cat>
          <c:val>
            <c:numRef>
              <c:f>Sheet1!$C$2:$C$8</c:f>
              <c:numCache>
                <c:formatCode>General</c:formatCode>
                <c:ptCount val="7"/>
                <c:pt idx="0">
                  <c:v>100</c:v>
                </c:pt>
                <c:pt idx="1">
                  <c:v>100</c:v>
                </c:pt>
                <c:pt idx="2">
                  <c:v>98</c:v>
                </c:pt>
                <c:pt idx="3">
                  <c:v>58</c:v>
                </c:pt>
                <c:pt idx="4">
                  <c:v>22</c:v>
                </c:pt>
                <c:pt idx="5">
                  <c:v>5</c:v>
                </c:pt>
                <c:pt idx="6">
                  <c:v>0</c:v>
                </c:pt>
              </c:numCache>
            </c:numRef>
          </c:val>
        </c:ser>
        <c:dLbls>
          <c:numFmt formatCode="#,##0" sourceLinked="0"/>
          <c:txPr>
            <a:bodyPr/>
            <a:lstStyle/>
            <a:p>
              <a:pPr>
                <a:defRPr b="0" i="0" strike="noStrike" sz="1100" u="none">
                  <a:solidFill>
                    <a:srgbClr val="2C2C2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4A4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A4A4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Budgeted Spend (₹ Cr)</c:v>
                </c:pt>
              </c:strCache>
            </c:strRef>
          </c:tx>
          <c:spPr>
            <a:solidFill>
              <a:srgbClr val="F0A500"/>
            </a:solidFill>
            <a:ln w="38100" cap="flat">
              <a:solidFill>
                <a:srgbClr val="F0A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0A500"/>
              </a:solidFill>
              <a:ln w="9525" cap="flat">
                <a:solidFill>
                  <a:srgbClr val="F0A500"/>
                </a:solidFill>
                <a:prstDash val="solid"/>
                <a:round/>
              </a:ln>
              <a:effectLst/>
            </c:spPr>
          </c:marker>
          <c:cat>
            <c:multiLvlStrRef>
              <c:f>Sheet1!$A$2:$A$9</c:f>
              <c:multiLvlStrCache>
                <c:ptCount val="8"/>
                <c:lvl>
                  <c:pt idx="0">
                    <c:v>Oct</c:v>
                  </c:pt>
                  <c:pt idx="1">
                    <c:v>Nov</c:v>
                  </c:pt>
                  <c:pt idx="2">
                    <c:v>Dec</c:v>
                  </c:pt>
                  <c:pt idx="3">
                    <c:v>Jan</c:v>
                  </c:pt>
                  <c:pt idx="4">
                    <c:v>Feb</c:v>
                  </c:pt>
                  <c:pt idx="5">
                    <c:v>Mar</c:v>
                  </c:pt>
                  <c:pt idx="6">
                    <c:v>Apr</c:v>
                  </c:pt>
                  <c:pt idx="7">
                    <c:v>May</c:v>
                  </c:pt>
                </c:lvl>
              </c:multiLvlStrCache>
            </c:multiLvlStrRef>
          </c:cat>
          <c:val>
            <c:numRef>
              <c:f>Sheet1!$B$2:$B$9</c:f>
              <c:numCache>
                <c:formatCode>General</c:formatCode>
                <c:ptCount val="8"/>
                <c:pt idx="0">
                  <c:v>5.2</c:v>
                </c:pt>
                <c:pt idx="1">
                  <c:v>7.8</c:v>
                </c:pt>
                <c:pt idx="2">
                  <c:v>9.1</c:v>
                </c:pt>
                <c:pt idx="3">
                  <c:v>11.4</c:v>
                </c:pt>
                <c:pt idx="4">
                  <c:v>13.2</c:v>
                </c:pt>
                <c:pt idx="5">
                  <c:v>15.6</c:v>
                </c:pt>
                <c:pt idx="6">
                  <c:v>17</c:v>
                </c:pt>
                <c:pt idx="7">
                  <c:v>18.5</c:v>
                </c:pt>
              </c:numCache>
            </c:numRef>
          </c:val>
          <c:smooth val="1"/>
        </c:ser>
        <c:ser>
          <c:idx val="1"/>
          <c:order val="1"/>
          <c:tx>
            <c:strRef>
              <c:f>Sheet1!$C$1</c:f>
              <c:strCache>
                <c:ptCount val="1"/>
                <c:pt idx="0">
                  <c:v>Actual Spend (₹ Cr)</c:v>
                </c:pt>
              </c:strCache>
            </c:strRef>
          </c:tx>
          <c:spPr>
            <a:solidFill>
              <a:srgbClr val="B85042"/>
            </a:solidFill>
            <a:ln w="38100" cap="flat">
              <a:solidFill>
                <a:srgbClr val="B8504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85042"/>
              </a:solidFill>
              <a:ln w="9525" cap="flat">
                <a:solidFill>
                  <a:srgbClr val="B85042"/>
                </a:solidFill>
                <a:prstDash val="solid"/>
                <a:round/>
              </a:ln>
              <a:effectLst/>
            </c:spPr>
          </c:marker>
          <c:cat>
            <c:multiLvlStrRef>
              <c:f>Sheet1!$A$2:$A$9</c:f>
              <c:multiLvlStrCache>
                <c:ptCount val="8"/>
                <c:lvl>
                  <c:pt idx="0">
                    <c:v>Oct</c:v>
                  </c:pt>
                  <c:pt idx="1">
                    <c:v>Nov</c:v>
                  </c:pt>
                  <c:pt idx="2">
                    <c:v>Dec</c:v>
                  </c:pt>
                  <c:pt idx="3">
                    <c:v>Jan</c:v>
                  </c:pt>
                  <c:pt idx="4">
                    <c:v>Feb</c:v>
                  </c:pt>
                  <c:pt idx="5">
                    <c:v>Mar</c:v>
                  </c:pt>
                  <c:pt idx="6">
                    <c:v>Apr</c:v>
                  </c:pt>
                  <c:pt idx="7">
                    <c:v>May</c:v>
                  </c:pt>
                </c:lvl>
              </c:multiLvlStrCache>
            </c:multiLvlStrRef>
          </c:cat>
          <c:val>
            <c:numRef>
              <c:f>Sheet1!$C$2:$C$9</c:f>
              <c:numCache>
                <c:formatCode>General</c:formatCode>
                <c:ptCount val="8"/>
                <c:pt idx="0">
                  <c:v>4.8</c:v>
                </c:pt>
                <c:pt idx="1">
                  <c:v>7.2</c:v>
                </c:pt>
                <c:pt idx="2">
                  <c:v>9.6</c:v>
                </c:pt>
                <c:pt idx="3">
                  <c:v>10.9</c:v>
                </c:pt>
                <c:pt idx="4">
                  <c:v>12.4</c:v>
                </c:pt>
                <c:pt idx="5">
                  <c:v>14.8</c:v>
                </c:pt>
                <c:pt idx="6">
                  <c:v>15.9</c:v>
                </c:pt>
                <c:pt idx="7">
                  <c:v>17.1</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4A4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A4A4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Workers</c:v>
                </c:pt>
              </c:strCache>
            </c:strRef>
          </c:tx>
          <c:spPr>
            <a:solidFill>
              <a:schemeClr val="accent1"/>
            </a:solidFill>
            <a:ln w="9525" cap="flat">
              <a:solidFill>
                <a:srgbClr val="F9F9F9"/>
              </a:solidFill>
              <a:prstDash val="solid"/>
              <a:round/>
            </a:ln>
            <a:effectLst/>
          </c:spPr>
          <c:dPt>
            <c:idx val="0"/>
            <c:bubble3D val="0"/>
            <c:spPr>
              <a:solidFill>
                <a:srgbClr val="B85042"/>
              </a:solidFill>
              <a:effectLst/>
            </c:spPr>
          </c:dPt>
          <c:dPt>
            <c:idx val="1"/>
            <c:bubble3D val="0"/>
            <c:spPr>
              <a:solidFill>
                <a:srgbClr val="F0A500"/>
              </a:solidFill>
              <a:effectLst/>
            </c:spPr>
          </c:dPt>
          <c:dPt>
            <c:idx val="2"/>
            <c:bubble3D val="0"/>
            <c:spPr>
              <a:solidFill>
                <a:srgbClr val="6B8E9F"/>
              </a:solidFill>
              <a:effectLst/>
            </c:spPr>
          </c:dPt>
          <c:dPt>
            <c:idx val="3"/>
            <c:bubble3D val="0"/>
            <c:spPr>
              <a:solidFill>
                <a:srgbClr val="8CB87D"/>
              </a:solidFill>
              <a:effectLst/>
            </c:spPr>
          </c:dPt>
          <c:dPt>
            <c:idx val="4"/>
            <c:bubble3D val="0"/>
            <c:spPr>
              <a:solidFill>
                <a:srgbClr val="4A4A4A"/>
              </a:solidFill>
              <a:effectLst/>
            </c:spPr>
          </c:dPt>
          <c:dPt>
            <c:idx val="5"/>
            <c:bubble3D val="0"/>
            <c:spPr>
              <a:solidFill>
                <a:srgbClr val="C4956A"/>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4"/>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5"/>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Sheet1!$A$2:$A$7</c:f>
              <c:strCache>
                <c:ptCount val="6"/>
                <c:pt idx="0">
                  <c:v>Civil / Structural</c:v>
                </c:pt>
                <c:pt idx="1">
                  <c:v>MEP Services</c:v>
                </c:pt>
                <c:pt idx="2">
                  <c:v>Formwork &amp; Shuttering</c:v>
                </c:pt>
                <c:pt idx="3">
                  <c:v>Safety &amp; QC</c:v>
                </c:pt>
                <c:pt idx="4">
                  <c:v>Site Management</c:v>
                </c:pt>
                <c:pt idx="5">
                  <c:v>Finishing Trades</c:v>
                </c:pt>
              </c:strCache>
            </c:strRef>
          </c:cat>
          <c:val>
            <c:numRef>
              <c:f>Sheet1!$B$2:$B$7</c:f>
              <c:numCache>
                <c:ptCount val="6"/>
                <c:pt idx="0">
                  <c:v>312</c:v>
                </c:pt>
                <c:pt idx="1">
                  <c:v>88</c:v>
                </c:pt>
                <c:pt idx="2">
                  <c:v>142</c:v>
                </c:pt>
                <c:pt idx="3">
                  <c:v>34</c:v>
                </c:pt>
                <c:pt idx="4">
                  <c:v>22</c:v>
                </c:pt>
                <c:pt idx="5">
                  <c:v>47</c:v>
                </c:pt>
              </c:numCache>
            </c:numRef>
          </c:val>
        </c:ser>
        <c:firstSliceAng val="0"/>
      </c:pieChart>
      <c:spPr>
        <a:noFill/>
        <a:ln>
          <a:noFill/>
        </a:ln>
        <a:effectLst/>
      </c:spPr>
    </c:plotArea>
    <c:legend>
      <c:legendPos val="b"/>
      <c:overlay val="0"/>
      <c:txPr>
        <a:bodyPr/>
        <a:lstStyle/>
        <a:p>
          <a:pPr>
            <a:defRPr sz="1100">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Q2 Phase 2 update for Skyline Tower. This deck covers structural progress, budget status, timeline milestones, safety compliance, and material procurement. All figures are as of end of May 2026. Questions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Skyline Tower is a flagship mixed-use development in Hyderabad's financial district. Phase 1 (foundation and basement) completed in January 2026. Phase 2 covers floors 1–20 and is currently on track. The client has requested an additional floor for mechanical systems — change order under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approved budget is ₹142 crore. As of end of Q2, 54.5% has been spent. Equipment and machinery is the highest burn at 86.7% — two cranes and a concrete pump were purchased outright in Phase 1. MEP spend is low because subcontractor mobilisation begins in Q3. Contingency is largely intact — good sign at the halfway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 chart compares planned vs actual completion percentages across all project phases. Foundation and basement are fully done. Floors 1–10 are at 98% — minor snagging remains. Floors 11–20 are 7 points behind plan — delayed by a rebar delivery shortage in April. MEP rough-in is significantly behind; the team is adding a night shift from July 1. Facade and finishing work has not meaningfully started yet — on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monthly spend tracking Oct 2025 through May 2026. Actual spend has tracked slightly below budget in most months — this is a positive sign. The gap widened in April due to the deferred rebar procurement. Finance projects a spend catch-up in Q3 once MEP subcontractors mobilise. Overall the project remains within the approved ₹142 Cr envelope.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performance improved significantly this quarter. The one lost-time incident in Q2 was a sprained ankle on the 12th floor — the worker returned to site after 4 days. Root cause was an unmarked wet floor; corrective action implemented immediately. Near-miss reporting culture is improving — the rise is good, not bad; workers are reporting rather than hiding incidents.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TMT Rebar is the critical risk item — the April shortage pushed delivery back 5 weeks. Mitigation: sourced 200 MT from a secondary supplier at a 4% premium; approved by PM. AAC Blocks on watch because the 8-week lead time is tight against the masonry start date for floors 21–30. Facade and curtain wall are ordered, contracts signed — no delivery risk at this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645 workers currently on site — up from 480 in Q1 due to MEP subcontractor onboarding. Civil and structural trades remain the largest group. Attendance rate of 94% in May is above the 90% contract threshold. Night shift starting July 1 will add approximately 80 MEP workers to the headcount.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deck by confirming the six Q3 commitments. Emphasise the rebar mitigation is already in motion — delivery confirmed for June 20. The change order for the mechanical floor is a potential budget impact; client meeting scheduled for June 28. Next full project review is July 15 — same format, same attendees.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2C2C"/>
        </a:solidFill>
      </p:bgPr>
    </p:bg>
    <p:spTree>
      <p:nvGrpSpPr>
        <p:cNvPr id="1" name=""/>
        <p:cNvGrpSpPr/>
        <p:nvPr/>
      </p:nvGrpSpPr>
      <p:grpSpPr>
        <a:xfrm>
          <a:off x="0" y="0"/>
          <a:ext cx="0" cy="0"/>
          <a:chOff x="0" y="0"/>
          <a:chExt cx="0" cy="0"/>
        </a:xfrm>
      </p:grpSpPr>
      <p:sp>
        <p:nvSpPr>
          <p:cNvPr id="2" name="Text 0"/>
          <p:cNvSpPr/>
          <p:nvPr/>
        </p:nvSpPr>
        <p:spPr>
          <a:xfrm>
            <a:off x="548640" y="1097280"/>
            <a:ext cx="8046720" cy="1097280"/>
          </a:xfrm>
          <a:prstGeom prst="rect">
            <a:avLst/>
          </a:prstGeom>
          <a:noFill/>
          <a:ln/>
        </p:spPr>
        <p:txBody>
          <a:bodyPr wrap="square" rtlCol="0" anchor="ctr"/>
          <a:lstStyle/>
          <a:p>
            <a:pPr algn="l" indent="0" marL="0">
              <a:buNone/>
            </a:pPr>
            <a:r>
              <a:rPr lang="en-US" sz="4800" b="1" dirty="0">
                <a:solidFill>
                  <a:srgbClr val="B85042"/>
                </a:solidFill>
                <a:latin typeface="Calibri" pitchFamily="34" charset="0"/>
                <a:ea typeface="Calibri" pitchFamily="34" charset="-122"/>
                <a:cs typeface="Calibri" pitchFamily="34" charset="-120"/>
              </a:rPr>
              <a:t>SKYLINE TOWER</a:t>
            </a:r>
            <a:endParaRPr lang="en-US" sz="4800" dirty="0"/>
          </a:p>
        </p:txBody>
      </p:sp>
      <p:sp>
        <p:nvSpPr>
          <p:cNvPr id="3" name="Text 1"/>
          <p:cNvSpPr/>
          <p:nvPr/>
        </p:nvSpPr>
        <p:spPr>
          <a:xfrm>
            <a:off x="548640" y="2286000"/>
            <a:ext cx="8046720" cy="548640"/>
          </a:xfrm>
          <a:prstGeom prst="rect">
            <a:avLst/>
          </a:prstGeom>
          <a:noFill/>
          <a:ln/>
        </p:spPr>
        <p:txBody>
          <a:bodyPr wrap="square" rtlCol="0" anchor="ctr"/>
          <a:lstStyle/>
          <a:p>
            <a:pPr algn="l" indent="0" marL="0">
              <a:buNone/>
            </a:pPr>
            <a:r>
              <a:rPr lang="en-US" sz="1800" dirty="0">
                <a:solidFill>
                  <a:srgbClr val="E7E8D1"/>
                </a:solidFill>
                <a:latin typeface="Calibri" pitchFamily="34" charset="0"/>
                <a:ea typeface="Calibri" pitchFamily="34" charset="-122"/>
                <a:cs typeface="Calibri" pitchFamily="34" charset="-120"/>
              </a:rPr>
              <a:t>Construction Project Report — Phase 2 Update</a:t>
            </a:r>
            <a:endParaRPr lang="en-US" sz="1800" dirty="0"/>
          </a:p>
        </p:txBody>
      </p:sp>
      <p:sp>
        <p:nvSpPr>
          <p:cNvPr id="4" name="Text 2"/>
          <p:cNvSpPr/>
          <p:nvPr/>
        </p:nvSpPr>
        <p:spPr>
          <a:xfrm>
            <a:off x="548640" y="2926080"/>
            <a:ext cx="8046720" cy="365760"/>
          </a:xfrm>
          <a:prstGeom prst="rect">
            <a:avLst/>
          </a:prstGeom>
          <a:noFill/>
          <a:ln/>
        </p:spPr>
        <p:txBody>
          <a:bodyPr wrap="square" rtlCol="0" anchor="ctr"/>
          <a:lstStyle/>
          <a:p>
            <a:pPr algn="l" indent="0" marL="0">
              <a:buNone/>
            </a:pPr>
            <a:r>
              <a:rPr lang="en-US" sz="1300" dirty="0">
                <a:solidFill>
                  <a:srgbClr val="888888"/>
                </a:solidFill>
                <a:latin typeface="Calibri" pitchFamily="34" charset="0"/>
                <a:ea typeface="Calibri" pitchFamily="34" charset="-122"/>
                <a:cs typeface="Calibri" pitchFamily="34" charset="-120"/>
              </a:rPr>
              <a:t>Q2 2026  |  Presented by: Site Engineering Team</a:t>
            </a:r>
            <a:endParaRPr lang="en-US" sz="1300" dirty="0"/>
          </a:p>
        </p:txBody>
      </p:sp>
      <p:sp>
        <p:nvSpPr>
          <p:cNvPr id="5" name="Shape 3"/>
          <p:cNvSpPr/>
          <p:nvPr/>
        </p:nvSpPr>
        <p:spPr>
          <a:xfrm>
            <a:off x="548640" y="4389120"/>
            <a:ext cx="2194560" cy="91440"/>
          </a:xfrm>
          <a:prstGeom prst="rect">
            <a:avLst/>
          </a:prstGeom>
          <a:solidFill>
            <a:srgbClr val="B85042"/>
          </a:solidFill>
          <a:ln w="12700">
            <a:solidFill>
              <a:srgbClr val="B85042"/>
            </a:solidFill>
            <a:prstDash val="solid"/>
          </a:ln>
        </p:spPr>
      </p:sp>
      <p:pic>
        <p:nvPicPr>
          <p:cNvPr id="6" name="Image 0" descr="preencoded.png">    </p:cNvPr>
          <p:cNvPicPr>
            <a:picLocks noChangeAspect="1"/>
          </p:cNvPicPr>
          <p:nvPr/>
        </p:nvPicPr>
        <p:blipFill>
          <a:blip r:embed="rId1"/>
          <a:stretch>
            <a:fillRect/>
          </a:stretch>
        </p:blipFill>
        <p:spPr>
          <a:xfrm>
            <a:off x="5303520" y="457200"/>
            <a:ext cx="3474720" cy="42062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rtlCol="0" anchor="ctr"/>
          <a:lstStyle/>
          <a:p>
            <a:pPr indent="0" marL="0">
              <a:buNone/>
            </a:pPr>
            <a:r>
              <a:rPr lang="en-US" sz="3200" b="1" dirty="0">
                <a:solidFill>
                  <a:srgbClr val="B85042"/>
                </a:solidFill>
                <a:latin typeface="Calibri" pitchFamily="34" charset="0"/>
                <a:ea typeface="Calibri" pitchFamily="34" charset="-122"/>
                <a:cs typeface="Calibri" pitchFamily="34" charset="-120"/>
              </a:rPr>
              <a:t>Project Overview</a:t>
            </a:r>
            <a:endParaRPr lang="en-US" sz="3200" dirty="0"/>
          </a:p>
        </p:txBody>
      </p:sp>
      <p:sp>
        <p:nvSpPr>
          <p:cNvPr id="3" name="Text 1"/>
          <p:cNvSpPr/>
          <p:nvPr/>
        </p:nvSpPr>
        <p:spPr>
          <a:xfrm>
            <a:off x="457200" y="1005840"/>
            <a:ext cx="4754880" cy="3657600"/>
          </a:xfrm>
          <a:prstGeom prst="rect">
            <a:avLst/>
          </a:prstGeom>
          <a:noFill/>
          <a:ln/>
        </p:spPr>
        <p:txBody>
          <a:bodyPr wrap="square" rtlCol="0" anchor="ctr"/>
          <a:lstStyle/>
          <a:p>
            <a:pPr indent="0" marL="0">
              <a:lnSpc>
                <a:spcPct val="140000"/>
              </a:lnSpc>
              <a:buNone/>
            </a:pPr>
            <a:r>
              <a:rPr lang="en-US" sz="1400" b="1" dirty="0">
                <a:solidFill>
                  <a:srgbClr val="2C2C2C"/>
                </a:solidFill>
                <a:latin typeface="Calibri" pitchFamily="34" charset="0"/>
                <a:ea typeface="Calibri" pitchFamily="34" charset="-122"/>
                <a:cs typeface="Calibri" pitchFamily="34" charset="-120"/>
              </a:rPr>
              <a:t>Project: </a:t>
            </a:r>
            <a:pPr indent="0" marL="0">
              <a:lnSpc>
                <a:spcPct val="140000"/>
              </a:lnSpc>
              <a:buNone/>
            </a:pPr>
            <a:r>
              <a:rPr lang="en-US" sz="1400" dirty="0">
                <a:solidFill>
                  <a:srgbClr val="4A4A4A"/>
                </a:solidFill>
                <a:latin typeface="Calibri" pitchFamily="34" charset="0"/>
                <a:ea typeface="Calibri" pitchFamily="34" charset="-122"/>
                <a:cs typeface="Calibri" pitchFamily="34" charset="-120"/>
              </a:rPr>
              <a:t>Skyline Tower, Hyderabad</a:t>
            </a:r>
            <a:pPr indent="0" marL="0">
              <a:lnSpc>
                <a:spcPct val="140000"/>
              </a:lnSpc>
              <a:buNone/>
            </a:pPr>
            <a:r>
              <a:rPr lang="en-US" sz="1400" dirty="0">
                <a:solidFill>
                  <a:srgbClr val="000000"/>
                </a:solidFill>
                <a:latin typeface="Calibri" pitchFamily="34" charset="0"/>
                <a:ea typeface="Calibri" pitchFamily="34" charset="-122"/>
                <a:cs typeface="Calibri" pitchFamily="34" charset="-120"/>
              </a:rPr>
              <a:t>
</a:t>
            </a:r>
            <a:pPr indent="0" marL="0">
              <a:lnSpc>
                <a:spcPct val="140000"/>
              </a:lnSpc>
              <a:buNone/>
            </a:pPr>
            <a:r>
              <a:rPr lang="en-US" sz="1400" b="1" dirty="0">
                <a:solidFill>
                  <a:srgbClr val="2C2C2C"/>
                </a:solidFill>
                <a:latin typeface="Calibri" pitchFamily="34" charset="0"/>
                <a:ea typeface="Calibri" pitchFamily="34" charset="-122"/>
                <a:cs typeface="Calibri" pitchFamily="34" charset="-120"/>
              </a:rPr>
              <a:t>Client: </a:t>
            </a:r>
            <a:pPr indent="0" marL="0">
              <a:lnSpc>
                <a:spcPct val="140000"/>
              </a:lnSpc>
              <a:buNone/>
            </a:pPr>
            <a:r>
              <a:rPr lang="en-US" sz="1400" dirty="0">
                <a:solidFill>
                  <a:srgbClr val="4A4A4A"/>
                </a:solidFill>
                <a:latin typeface="Calibri" pitchFamily="34" charset="0"/>
                <a:ea typeface="Calibri" pitchFamily="34" charset="-122"/>
                <a:cs typeface="Calibri" pitchFamily="34" charset="-120"/>
              </a:rPr>
              <a:t>Horizon Realty Group</a:t>
            </a:r>
            <a:pPr indent="0" marL="0">
              <a:lnSpc>
                <a:spcPct val="140000"/>
              </a:lnSpc>
              <a:buNone/>
            </a:pPr>
            <a:r>
              <a:rPr lang="en-US" sz="1400" dirty="0">
                <a:solidFill>
                  <a:srgbClr val="000000"/>
                </a:solidFill>
                <a:latin typeface="Calibri" pitchFamily="34" charset="0"/>
                <a:ea typeface="Calibri" pitchFamily="34" charset="-122"/>
                <a:cs typeface="Calibri" pitchFamily="34" charset="-120"/>
              </a:rPr>
              <a:t>
</a:t>
            </a:r>
            <a:pPr indent="0" marL="0">
              <a:lnSpc>
                <a:spcPct val="140000"/>
              </a:lnSpc>
              <a:buNone/>
            </a:pPr>
            <a:r>
              <a:rPr lang="en-US" sz="1400" b="1" dirty="0">
                <a:solidFill>
                  <a:srgbClr val="2C2C2C"/>
                </a:solidFill>
                <a:latin typeface="Calibri" pitchFamily="34" charset="0"/>
                <a:ea typeface="Calibri" pitchFamily="34" charset="-122"/>
                <a:cs typeface="Calibri" pitchFamily="34" charset="-120"/>
              </a:rPr>
              <a:t>Contractor: </a:t>
            </a:r>
            <a:pPr indent="0" marL="0">
              <a:lnSpc>
                <a:spcPct val="140000"/>
              </a:lnSpc>
              <a:buNone/>
            </a:pPr>
            <a:r>
              <a:rPr lang="en-US" sz="1400" dirty="0">
                <a:solidFill>
                  <a:srgbClr val="4A4A4A"/>
                </a:solidFill>
                <a:latin typeface="Calibri" pitchFamily="34" charset="0"/>
                <a:ea typeface="Calibri" pitchFamily="34" charset="-122"/>
                <a:cs typeface="Calibri" pitchFamily="34" charset="-120"/>
              </a:rPr>
              <a:t>BuildCore Engineering Ltd.</a:t>
            </a:r>
            <a:pPr indent="0" marL="0">
              <a:lnSpc>
                <a:spcPct val="140000"/>
              </a:lnSpc>
              <a:buNone/>
            </a:pPr>
            <a:r>
              <a:rPr lang="en-US" sz="1400" dirty="0">
                <a:solidFill>
                  <a:srgbClr val="000000"/>
                </a:solidFill>
                <a:latin typeface="Calibri" pitchFamily="34" charset="0"/>
                <a:ea typeface="Calibri" pitchFamily="34" charset="-122"/>
                <a:cs typeface="Calibri" pitchFamily="34" charset="-120"/>
              </a:rPr>
              <a:t>
</a:t>
            </a:r>
            <a:pPr indent="0" marL="0">
              <a:lnSpc>
                <a:spcPct val="140000"/>
              </a:lnSpc>
              <a:buNone/>
            </a:pPr>
            <a:r>
              <a:rPr lang="en-US" sz="1400" b="1" dirty="0">
                <a:solidFill>
                  <a:srgbClr val="2C2C2C"/>
                </a:solidFill>
                <a:latin typeface="Calibri" pitchFamily="34" charset="0"/>
                <a:ea typeface="Calibri" pitchFamily="34" charset="-122"/>
                <a:cs typeface="Calibri" pitchFamily="34" charset="-120"/>
              </a:rPr>
              <a:t>Start Date: </a:t>
            </a:r>
            <a:pPr indent="0" marL="0">
              <a:lnSpc>
                <a:spcPct val="140000"/>
              </a:lnSpc>
              <a:buNone/>
            </a:pPr>
            <a:r>
              <a:rPr lang="en-US" sz="1400" dirty="0">
                <a:solidFill>
                  <a:srgbClr val="4A4A4A"/>
                </a:solidFill>
                <a:latin typeface="Calibri" pitchFamily="34" charset="0"/>
                <a:ea typeface="Calibri" pitchFamily="34" charset="-122"/>
                <a:cs typeface="Calibri" pitchFamily="34" charset="-120"/>
              </a:rPr>
              <a:t>March 15, 2025</a:t>
            </a:r>
            <a:pPr indent="0" marL="0">
              <a:lnSpc>
                <a:spcPct val="140000"/>
              </a:lnSpc>
              <a:buNone/>
            </a:pPr>
            <a:r>
              <a:rPr lang="en-US" sz="1400" dirty="0">
                <a:solidFill>
                  <a:srgbClr val="000000"/>
                </a:solidFill>
                <a:latin typeface="Calibri" pitchFamily="34" charset="0"/>
                <a:ea typeface="Calibri" pitchFamily="34" charset="-122"/>
                <a:cs typeface="Calibri" pitchFamily="34" charset="-120"/>
              </a:rPr>
              <a:t>
</a:t>
            </a:r>
            <a:pPr indent="0" marL="0">
              <a:lnSpc>
                <a:spcPct val="140000"/>
              </a:lnSpc>
              <a:buNone/>
            </a:pPr>
            <a:r>
              <a:rPr lang="en-US" sz="1400" b="1" dirty="0">
                <a:solidFill>
                  <a:srgbClr val="2C2C2C"/>
                </a:solidFill>
                <a:latin typeface="Calibri" pitchFamily="34" charset="0"/>
                <a:ea typeface="Calibri" pitchFamily="34" charset="-122"/>
                <a:cs typeface="Calibri" pitchFamily="34" charset="-120"/>
              </a:rPr>
              <a:t>Completion: </a:t>
            </a:r>
            <a:pPr indent="0" marL="0">
              <a:lnSpc>
                <a:spcPct val="140000"/>
              </a:lnSpc>
              <a:buNone/>
            </a:pPr>
            <a:r>
              <a:rPr lang="en-US" sz="1400" dirty="0">
                <a:solidFill>
                  <a:srgbClr val="4A4A4A"/>
                </a:solidFill>
                <a:latin typeface="Calibri" pitchFamily="34" charset="0"/>
                <a:ea typeface="Calibri" pitchFamily="34" charset="-122"/>
                <a:cs typeface="Calibri" pitchFamily="34" charset="-120"/>
              </a:rPr>
              <a:t>December 31, 2026 (est.)</a:t>
            </a:r>
            <a:pPr indent="0" marL="0">
              <a:lnSpc>
                <a:spcPct val="140000"/>
              </a:lnSpc>
              <a:buNone/>
            </a:pPr>
            <a:r>
              <a:rPr lang="en-US" sz="1400" dirty="0">
                <a:solidFill>
                  <a:srgbClr val="000000"/>
                </a:solidFill>
                <a:latin typeface="Calibri" pitchFamily="34" charset="0"/>
                <a:ea typeface="Calibri" pitchFamily="34" charset="-122"/>
                <a:cs typeface="Calibri" pitchFamily="34" charset="-120"/>
              </a:rPr>
              <a:t>
</a:t>
            </a:r>
            <a:pPr indent="0" marL="0">
              <a:lnSpc>
                <a:spcPct val="140000"/>
              </a:lnSpc>
              <a:buNone/>
            </a:pPr>
            <a:r>
              <a:rPr lang="en-US" sz="1400" b="1" dirty="0">
                <a:solidFill>
                  <a:srgbClr val="2C2C2C"/>
                </a:solidFill>
                <a:latin typeface="Calibri" pitchFamily="34" charset="0"/>
                <a:ea typeface="Calibri" pitchFamily="34" charset="-122"/>
                <a:cs typeface="Calibri" pitchFamily="34" charset="-120"/>
              </a:rPr>
              <a:t>Budget: </a:t>
            </a:r>
            <a:pPr indent="0" marL="0">
              <a:lnSpc>
                <a:spcPct val="140000"/>
              </a:lnSpc>
              <a:buNone/>
            </a:pPr>
            <a:r>
              <a:rPr lang="en-US" sz="1400" dirty="0">
                <a:solidFill>
                  <a:srgbClr val="4A4A4A"/>
                </a:solidFill>
                <a:latin typeface="Calibri" pitchFamily="34" charset="0"/>
                <a:ea typeface="Calibri" pitchFamily="34" charset="-122"/>
                <a:cs typeface="Calibri" pitchFamily="34" charset="-120"/>
              </a:rPr>
              <a:t>₹ 142 Crore (approved)</a:t>
            </a:r>
            <a:pPr indent="0" marL="0">
              <a:lnSpc>
                <a:spcPct val="140000"/>
              </a:lnSpc>
              <a:buNone/>
            </a:pPr>
            <a:r>
              <a:rPr lang="en-US" sz="1400" dirty="0">
                <a:solidFill>
                  <a:srgbClr val="000000"/>
                </a:solidFill>
                <a:latin typeface="Calibri" pitchFamily="34" charset="0"/>
                <a:ea typeface="Calibri" pitchFamily="34" charset="-122"/>
                <a:cs typeface="Calibri" pitchFamily="34" charset="-120"/>
              </a:rPr>
              <a:t>
</a:t>
            </a:r>
            <a:pPr indent="0" marL="0">
              <a:lnSpc>
                <a:spcPct val="140000"/>
              </a:lnSpc>
              <a:buNone/>
            </a:pPr>
            <a:r>
              <a:rPr lang="en-US" sz="1400" b="1" dirty="0">
                <a:solidFill>
                  <a:srgbClr val="2C2C2C"/>
                </a:solidFill>
                <a:latin typeface="Calibri" pitchFamily="34" charset="0"/>
                <a:ea typeface="Calibri" pitchFamily="34" charset="-122"/>
                <a:cs typeface="Calibri" pitchFamily="34" charset="-120"/>
              </a:rPr>
              <a:t>Floors: </a:t>
            </a:r>
            <a:pPr indent="0" marL="0">
              <a:lnSpc>
                <a:spcPct val="140000"/>
              </a:lnSpc>
              <a:buNone/>
            </a:pPr>
            <a:r>
              <a:rPr lang="en-US" sz="1400" dirty="0">
                <a:solidFill>
                  <a:srgbClr val="4A4A4A"/>
                </a:solidFill>
                <a:latin typeface="Calibri" pitchFamily="34" charset="0"/>
                <a:ea typeface="Calibri" pitchFamily="34" charset="-122"/>
                <a:cs typeface="Calibri" pitchFamily="34" charset="-120"/>
              </a:rPr>
              <a:t>38 floors + 4 basement levels</a:t>
            </a:r>
            <a:pPr indent="0" marL="0">
              <a:lnSpc>
                <a:spcPct val="140000"/>
              </a:lnSpc>
              <a:buNone/>
            </a:pPr>
            <a:r>
              <a:rPr lang="en-US" sz="1400" dirty="0">
                <a:solidFill>
                  <a:srgbClr val="000000"/>
                </a:solidFill>
                <a:latin typeface="Calibri" pitchFamily="34" charset="0"/>
                <a:ea typeface="Calibri" pitchFamily="34" charset="-122"/>
                <a:cs typeface="Calibri" pitchFamily="34" charset="-120"/>
              </a:rPr>
              <a:t>
</a:t>
            </a:r>
            <a:pPr indent="0" marL="0">
              <a:lnSpc>
                <a:spcPct val="140000"/>
              </a:lnSpc>
              <a:buNone/>
            </a:pPr>
            <a:r>
              <a:rPr lang="en-US" sz="1400" b="1" dirty="0">
                <a:solidFill>
                  <a:srgbClr val="2C2C2C"/>
                </a:solidFill>
                <a:latin typeface="Calibri" pitchFamily="34" charset="0"/>
                <a:ea typeface="Calibri" pitchFamily="34" charset="-122"/>
                <a:cs typeface="Calibri" pitchFamily="34" charset="-120"/>
              </a:rPr>
              <a:t>Scope: </a:t>
            </a:r>
            <a:pPr indent="0" marL="0">
              <a:lnSpc>
                <a:spcPct val="140000"/>
              </a:lnSpc>
              <a:buNone/>
            </a:pPr>
            <a:r>
              <a:rPr lang="en-US" sz="1400" dirty="0">
                <a:solidFill>
                  <a:srgbClr val="4A4A4A"/>
                </a:solidFill>
                <a:latin typeface="Calibri" pitchFamily="34" charset="0"/>
                <a:ea typeface="Calibri" pitchFamily="34" charset="-122"/>
                <a:cs typeface="Calibri" pitchFamily="34" charset="-120"/>
              </a:rPr>
              <a:t>Mixed-use commercial + residential</a:t>
            </a:r>
            <a:endParaRPr lang="en-US" sz="1400" dirty="0"/>
          </a:p>
        </p:txBody>
      </p:sp>
      <p:pic>
        <p:nvPicPr>
          <p:cNvPr id="4" name="Image 0" descr="preencoded.png">    </p:cNvPr>
          <p:cNvPicPr>
            <a:picLocks noChangeAspect="1"/>
          </p:cNvPicPr>
          <p:nvPr/>
        </p:nvPicPr>
        <p:blipFill>
          <a:blip r:embed="rId1"/>
          <a:stretch>
            <a:fillRect/>
          </a:stretch>
        </p:blipFill>
        <p:spPr>
          <a:xfrm>
            <a:off x="5486400" y="914400"/>
            <a:ext cx="3200400" cy="38404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rtlCol="0" anchor="ctr"/>
          <a:lstStyle/>
          <a:p>
            <a:pPr indent="0" marL="0">
              <a:buNone/>
            </a:pPr>
            <a:r>
              <a:rPr lang="en-US" sz="2800" b="1" dirty="0">
                <a:solidFill>
                  <a:srgbClr val="B85042"/>
                </a:solidFill>
                <a:latin typeface="Calibri" pitchFamily="34" charset="0"/>
                <a:ea typeface="Calibri" pitchFamily="34" charset="-122"/>
                <a:cs typeface="Calibri" pitchFamily="34" charset="-120"/>
              </a:rPr>
              <a:t>Budget Breakdown — Q2 2026</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2560320"/>
                <a:gridCol w="1645920"/>
                <a:gridCol w="1463040"/>
                <a:gridCol w="1645920"/>
                <a:gridCol w="914400"/>
              </a:tblGrid>
              <a:tr h="41148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B8504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Allocated (₹ Cr)</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B8504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Spent (₹ Cr)</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B8504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Remaining (₹ Cr)</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B8504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 Used</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B85042"/>
                    </a:solidFill>
                  </a:tcPr>
                </a:tc>
              </a:tr>
              <a:tr h="41148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Civil &amp; Structural</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52.00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38.40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13.60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73.8%</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MEP Services</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28.50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12.20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16.30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42.8%</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r>
              <a:tr h="41148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Finishing Works</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22.00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4.10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17.90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18.6%</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Equipment &amp; Machinery</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18.00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15.60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2.40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86.7%</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r>
              <a:tr h="41148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Safety &amp; Compliance</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6.50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4.80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1.70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73.8%</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Contingency Reserve</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15.00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2.30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12.70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r" indent="0" marL="0">
                        <a:buNone/>
                      </a:pPr>
                      <a:r>
                        <a:rPr lang="en-US" sz="1300" dirty="0">
                          <a:solidFill>
                            <a:srgbClr val="000000"/>
                          </a:solidFill>
                          <a:latin typeface="Calibri" pitchFamily="34" charset="0"/>
                          <a:ea typeface="Calibri" pitchFamily="34" charset="-122"/>
                          <a:cs typeface="Calibri" pitchFamily="34" charset="-120"/>
                        </a:rPr>
                        <a:t>15.3%</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r>
              <a:tr h="411480">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00000"/>
                          </a:solidFill>
                          <a:latin typeface="Calibri" pitchFamily="34" charset="0"/>
                          <a:ea typeface="Calibri" pitchFamily="34" charset="-122"/>
                          <a:cs typeface="Calibri" pitchFamily="34" charset="-120"/>
                        </a:rPr>
                        <a:t>142.00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00000"/>
                          </a:solidFill>
                          <a:latin typeface="Calibri" pitchFamily="34" charset="0"/>
                          <a:ea typeface="Calibri" pitchFamily="34" charset="-122"/>
                          <a:cs typeface="Calibri" pitchFamily="34" charset="-120"/>
                        </a:rPr>
                        <a:t>77.40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00000"/>
                          </a:solidFill>
                          <a:latin typeface="Calibri" pitchFamily="34" charset="0"/>
                          <a:ea typeface="Calibri" pitchFamily="34" charset="-122"/>
                          <a:cs typeface="Calibri" pitchFamily="34" charset="-120"/>
                        </a:rPr>
                        <a:t>64.60</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00000"/>
                          </a:solidFill>
                          <a:latin typeface="Calibri" pitchFamily="34" charset="0"/>
                          <a:ea typeface="Calibri" pitchFamily="34" charset="-122"/>
                          <a:cs typeface="Calibri" pitchFamily="34" charset="-120"/>
                        </a:rPr>
                        <a:t>54.5%</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rtlCol="0" anchor="ctr"/>
          <a:lstStyle/>
          <a:p>
            <a:pPr indent="0" marL="0">
              <a:buNone/>
            </a:pPr>
            <a:r>
              <a:rPr lang="en-US" sz="2800" b="1" dirty="0">
                <a:solidFill>
                  <a:srgbClr val="B85042"/>
                </a:solidFill>
                <a:latin typeface="Calibri" pitchFamily="34" charset="0"/>
                <a:ea typeface="Calibri" pitchFamily="34" charset="-122"/>
                <a:cs typeface="Calibri" pitchFamily="34" charset="-120"/>
              </a:rPr>
              <a:t>Construction Progress by Phase</a:t>
            </a:r>
            <a:endParaRPr lang="en-US" sz="2800" dirty="0"/>
          </a:p>
        </p:txBody>
      </p:sp>
      <p:graphicFrame>
        <p:nvGraphicFramePr>
          <p:cNvPr id="3" name="Chart 0" descr=""/>
          <p:cNvGraphicFramePr/>
          <p:nvPr/>
        </p:nvGraphicFramePr>
        <p:xfrm>
          <a:off x="457200" y="914400"/>
          <a:ext cx="8229600" cy="39319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rtlCol="0" anchor="ctr"/>
          <a:lstStyle/>
          <a:p>
            <a:pPr indent="0" marL="0">
              <a:buNone/>
            </a:pPr>
            <a:r>
              <a:rPr lang="en-US" sz="2800" b="1" dirty="0">
                <a:solidFill>
                  <a:srgbClr val="B85042"/>
                </a:solidFill>
                <a:latin typeface="Calibri" pitchFamily="34" charset="0"/>
                <a:ea typeface="Calibri" pitchFamily="34" charset="-122"/>
                <a:cs typeface="Calibri" pitchFamily="34" charset="-120"/>
              </a:rPr>
              <a:t>Monthly Expenditure vs Budget Curve</a:t>
            </a:r>
            <a:endParaRPr lang="en-US" sz="2800" dirty="0"/>
          </a:p>
        </p:txBody>
      </p:sp>
      <p:graphicFrame>
        <p:nvGraphicFramePr>
          <p:cNvPr id="3" name="Chart 0" descr=""/>
          <p:cNvGraphicFramePr/>
          <p:nvPr/>
        </p:nvGraphicFramePr>
        <p:xfrm>
          <a:off x="457200" y="914400"/>
          <a:ext cx="8229600" cy="39319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rtlCol="0" anchor="ctr"/>
          <a:lstStyle/>
          <a:p>
            <a:pPr indent="0" marL="0">
              <a:buNone/>
            </a:pPr>
            <a:r>
              <a:rPr lang="en-US" sz="2600" b="1" dirty="0">
                <a:solidFill>
                  <a:srgbClr val="B85042"/>
                </a:solidFill>
                <a:latin typeface="Calibri" pitchFamily="34" charset="0"/>
                <a:ea typeface="Calibri" pitchFamily="34" charset="-122"/>
                <a:cs typeface="Calibri" pitchFamily="34" charset="-120"/>
              </a:rPr>
              <a:t>Safety &amp; Compliance Report — Q2 2026</a:t>
            </a:r>
            <a:endParaRPr lang="en-US" sz="2600" dirty="0"/>
          </a:p>
        </p:txBody>
      </p:sp>
      <p:pic>
        <p:nvPicPr>
          <p:cNvPr id="3" name="Image 0" descr="preencoded.png">    </p:cNvPr>
          <p:cNvPicPr>
            <a:picLocks noChangeAspect="1"/>
          </p:cNvPicPr>
          <p:nvPr/>
        </p:nvPicPr>
        <p:blipFill>
          <a:blip r:embed="rId1"/>
          <a:stretch>
            <a:fillRect/>
          </a:stretch>
        </p:blipFill>
        <p:spPr>
          <a:xfrm>
            <a:off x="457200" y="914400"/>
            <a:ext cx="2926080" cy="256032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566160" y="914400"/>
          <a:ext cx="5212080" cy="914400"/>
        </p:xfrm>
        <a:graphic>
          <a:graphicData uri="http://schemas.openxmlformats.org/drawingml/2006/table">
            <a:tbl>
              <a:tblPr/>
              <a:tblGrid>
                <a:gridCol w="2286000"/>
                <a:gridCol w="914400"/>
                <a:gridCol w="914400"/>
                <a:gridCol w="1097280"/>
              </a:tblGrid>
              <a:tr h="402336">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B8504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Q1 2026</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B8504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Q2 2026</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B8504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B85042"/>
                    </a:solidFill>
                  </a:tcPr>
                </a:tc>
              </a:tr>
              <a:tr h="402336">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Lost Time Incidents</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C8C2C"/>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Near Misses Reported</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b="1" dirty="0">
                          <a:solidFill>
                            <a:srgbClr val="2C8C2C"/>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&lt; 5</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r>
              <a:tr h="402336">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Safety Audits Passed</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C8C2C"/>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PPE Compliance (%)</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b="1" dirty="0">
                          <a:solidFill>
                            <a:srgbClr val="2C8C2C"/>
                          </a:solidFill>
                          <a:latin typeface="Calibri" pitchFamily="34" charset="0"/>
                          <a:ea typeface="Calibri" pitchFamily="34" charset="-122"/>
                          <a:cs typeface="Calibri" pitchFamily="34" charset="-120"/>
                        </a:rPr>
                        <a:t>96%</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 95%</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r>
              <a:tr h="402336">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Training Hours / Worker</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C8C2C"/>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bl>
          </a:graphicData>
        </a:graphic>
      </p:graphicFrame>
      <p:sp>
        <p:nvSpPr>
          <p:cNvPr id="5" name="Text 1"/>
          <p:cNvSpPr/>
          <p:nvPr/>
        </p:nvSpPr>
        <p:spPr>
          <a:xfrm>
            <a:off x="457200" y="3703320"/>
            <a:ext cx="8229600" cy="731520"/>
          </a:xfrm>
          <a:prstGeom prst="rect">
            <a:avLst/>
          </a:prstGeom>
          <a:noFill/>
          <a:ln/>
        </p:spPr>
        <p:txBody>
          <a:bodyPr wrap="square" rtlCol="0" anchor="ctr"/>
          <a:lstStyle/>
          <a:p>
            <a:pPr indent="0" marL="0">
              <a:buNone/>
            </a:pPr>
            <a:r>
              <a:rPr lang="en-US" sz="1300" b="1" dirty="0">
                <a:solidFill>
                  <a:srgbClr val="2C2C2C"/>
                </a:solidFill>
                <a:latin typeface="Calibri" pitchFamily="34" charset="0"/>
                <a:ea typeface="Calibri" pitchFamily="34" charset="-122"/>
                <a:cs typeface="Calibri" pitchFamily="34" charset="-120"/>
              </a:rPr>
              <a:t>All Q2 safety targets met or exceeded. </a:t>
            </a:r>
            <a:pPr indent="0" marL="0">
              <a:buNone/>
            </a:pPr>
            <a:r>
              <a:rPr lang="en-US" sz="1300" dirty="0">
                <a:solidFill>
                  <a:srgbClr val="4A4A4A"/>
                </a:solidFill>
                <a:latin typeface="Calibri" pitchFamily="34" charset="0"/>
                <a:ea typeface="Calibri" pitchFamily="34" charset="-122"/>
                <a:cs typeface="Calibri" pitchFamily="34" charset="-120"/>
              </a:rPr>
              <a:t>PPE compliance reached 96%, surpassing the 95% threshold for the first time. Training hours per worker are up 30% QoQ following the April toolbox talk mandate.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rtlCol="0" anchor="ctr"/>
          <a:lstStyle/>
          <a:p>
            <a:pPr indent="0" marL="0">
              <a:buNone/>
            </a:pPr>
            <a:r>
              <a:rPr lang="en-US" sz="2800" b="1" dirty="0">
                <a:solidFill>
                  <a:srgbClr val="B85042"/>
                </a:solidFill>
                <a:latin typeface="Calibri" pitchFamily="34" charset="0"/>
                <a:ea typeface="Calibri" pitchFamily="34" charset="-122"/>
                <a:cs typeface="Calibri" pitchFamily="34" charset="-120"/>
              </a:rPr>
              <a:t>Material Procurement Status</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914400"/>
          <a:ext cx="8412480" cy="914400"/>
        </p:xfrm>
        <a:graphic>
          <a:graphicData uri="http://schemas.openxmlformats.org/drawingml/2006/table">
            <a:tbl>
              <a:tblPr/>
              <a:tblGrid>
                <a:gridCol w="2011680"/>
                <a:gridCol w="1554480"/>
                <a:gridCol w="1280160"/>
                <a:gridCol w="1280160"/>
                <a:gridCol w="1097280"/>
                <a:gridCol w="1188720"/>
              </a:tblGrid>
              <a:tr h="402336">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Material</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C2C2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Required (MT / units)</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C2C2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Delivered</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C2C2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On Order</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C2C2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Lead Time</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C2C2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C2C2C"/>
                    </a:solidFill>
                  </a:tcPr>
                </a:tc>
              </a:tr>
              <a:tr h="402336">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Structural Steel</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1,820 MT</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1,440 MT</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380 MT</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 weeks</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200" b="1" dirty="0">
                          <a:solidFill>
                            <a:srgbClr val="2C8C2C"/>
                          </a:solidFill>
                          <a:latin typeface="Calibri" pitchFamily="34" charset="0"/>
                          <a:ea typeface="Calibri" pitchFamily="34" charset="-122"/>
                          <a:cs typeface="Calibri" pitchFamily="34" charset="-120"/>
                        </a:rPr>
                        <a:t>ON TRACK</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02336">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Ready-Mix Concrete</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42,000 m³</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28,600 m³</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24 hrs</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b="1" dirty="0">
                          <a:solidFill>
                            <a:srgbClr val="2C8C2C"/>
                          </a:solidFill>
                          <a:latin typeface="Calibri" pitchFamily="34" charset="0"/>
                          <a:ea typeface="Calibri" pitchFamily="34" charset="-122"/>
                          <a:cs typeface="Calibri" pitchFamily="34" charset="-120"/>
                        </a:rPr>
                        <a:t>ON TRACK</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r>
              <a:tr h="402336">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TMT Rebar (Fe500)</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3,200 MT</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2,100 MT</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600 MT</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5 weeks</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200" b="1" dirty="0">
                          <a:solidFill>
                            <a:srgbClr val="CC2222"/>
                          </a:solidFill>
                          <a:latin typeface="Calibri" pitchFamily="34" charset="0"/>
                          <a:ea typeface="Calibri" pitchFamily="34" charset="-122"/>
                          <a:cs typeface="Calibri" pitchFamily="34" charset="-120"/>
                        </a:rPr>
                        <a:t>DELAYED</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02336">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AAC Blocks</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180,000 units</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62,000 units</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118,000 units</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8 weeks</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b="1" dirty="0">
                          <a:solidFill>
                            <a:srgbClr val="CC7700"/>
                          </a:solidFill>
                          <a:latin typeface="Calibri" pitchFamily="34" charset="0"/>
                          <a:ea typeface="Calibri" pitchFamily="34" charset="-122"/>
                          <a:cs typeface="Calibri" pitchFamily="34" charset="-120"/>
                        </a:rPr>
                        <a:t>WATCH</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r>
              <a:tr h="402336">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Aluminium Facade</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8,400 m²</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 m²</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8,400 m²</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12 weeks</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200" b="1" dirty="0">
                          <a:solidFill>
                            <a:srgbClr val="2C8C2C"/>
                          </a:solidFill>
                          <a:latin typeface="Calibri" pitchFamily="34" charset="0"/>
                          <a:ea typeface="Calibri" pitchFamily="34" charset="-122"/>
                          <a:cs typeface="Calibri" pitchFamily="34" charset="-120"/>
                        </a:rPr>
                        <a:t>ON TRACK</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02336">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Glass Curtain Wall</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5,200 m²</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 m²</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5,200 m²</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14 weeks</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c>
                  <a:txBody>
                    <a:bodyPr/>
                    <a:lstStyle/>
                    <a:p>
                      <a:pPr algn="ctr" indent="0" marL="0">
                        <a:buNone/>
                      </a:pPr>
                      <a:r>
                        <a:rPr lang="en-US" sz="1200" b="1" dirty="0">
                          <a:solidFill>
                            <a:srgbClr val="2C8C2C"/>
                          </a:solidFill>
                          <a:latin typeface="Calibri" pitchFamily="34" charset="0"/>
                          <a:ea typeface="Calibri" pitchFamily="34" charset="-122"/>
                          <a:cs typeface="Calibri" pitchFamily="34" charset="-120"/>
                        </a:rPr>
                        <a:t>ON TRACK</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9F0EE"/>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rtlCol="0" anchor="ctr"/>
          <a:lstStyle/>
          <a:p>
            <a:pPr indent="0" marL="0">
              <a:buNone/>
            </a:pPr>
            <a:r>
              <a:rPr lang="en-US" sz="2800" b="1" dirty="0">
                <a:solidFill>
                  <a:srgbClr val="B85042"/>
                </a:solidFill>
                <a:latin typeface="Calibri" pitchFamily="34" charset="0"/>
                <a:ea typeface="Calibri" pitchFamily="34" charset="-122"/>
                <a:cs typeface="Calibri" pitchFamily="34" charset="-120"/>
              </a:rPr>
              <a:t>Workforce Distribution — June 2026</a:t>
            </a:r>
            <a:endParaRPr lang="en-US" sz="2800" dirty="0"/>
          </a:p>
        </p:txBody>
      </p:sp>
      <p:graphicFrame>
        <p:nvGraphicFramePr>
          <p:cNvPr id="3" name="Chart 0" descr=""/>
          <p:cNvGraphicFramePr/>
          <p:nvPr/>
        </p:nvGraphicFramePr>
        <p:xfrm>
          <a:off x="274320" y="914400"/>
          <a:ext cx="4754880" cy="3840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5394960" y="1005840"/>
            <a:ext cx="1463040" cy="594360"/>
          </a:xfrm>
          <a:prstGeom prst="rect">
            <a:avLst/>
          </a:prstGeom>
          <a:noFill/>
          <a:ln/>
        </p:spPr>
        <p:txBody>
          <a:bodyPr wrap="square" rtlCol="0" anchor="ctr"/>
          <a:lstStyle/>
          <a:p>
            <a:pPr algn="ctr" indent="0" marL="0">
              <a:buNone/>
            </a:pPr>
            <a:r>
              <a:rPr lang="en-US" sz="3600" b="1" dirty="0">
                <a:solidFill>
                  <a:srgbClr val="B85042"/>
                </a:solidFill>
                <a:latin typeface="Calibri" pitchFamily="34" charset="0"/>
                <a:ea typeface="Calibri" pitchFamily="34" charset="-122"/>
                <a:cs typeface="Calibri" pitchFamily="34" charset="-120"/>
              </a:rPr>
              <a:t>645</a:t>
            </a:r>
            <a:endParaRPr lang="en-US" sz="3600" dirty="0"/>
          </a:p>
        </p:txBody>
      </p:sp>
      <p:sp>
        <p:nvSpPr>
          <p:cNvPr id="5" name="Text 2"/>
          <p:cNvSpPr/>
          <p:nvPr/>
        </p:nvSpPr>
        <p:spPr>
          <a:xfrm>
            <a:off x="6949440" y="1097280"/>
            <a:ext cx="1828800" cy="502920"/>
          </a:xfrm>
          <a:prstGeom prst="rect">
            <a:avLst/>
          </a:prstGeom>
          <a:noFill/>
          <a:ln/>
        </p:spPr>
        <p:txBody>
          <a:bodyPr wrap="square" rtlCol="0" anchor="ctr"/>
          <a:lstStyle/>
          <a:p>
            <a:pPr algn="l" indent="0" marL="0">
              <a:buNone/>
            </a:pPr>
            <a:r>
              <a:rPr lang="en-US" sz="1300" dirty="0">
                <a:solidFill>
                  <a:srgbClr val="4A4A4A"/>
                </a:solidFill>
                <a:latin typeface="Calibri" pitchFamily="34" charset="0"/>
                <a:ea typeface="Calibri" pitchFamily="34" charset="-122"/>
                <a:cs typeface="Calibri" pitchFamily="34" charset="-120"/>
              </a:rPr>
              <a:t>Total Workers on Site</a:t>
            </a:r>
            <a:endParaRPr lang="en-US" sz="1300" dirty="0"/>
          </a:p>
        </p:txBody>
      </p:sp>
      <p:sp>
        <p:nvSpPr>
          <p:cNvPr id="6" name="Text 3"/>
          <p:cNvSpPr/>
          <p:nvPr/>
        </p:nvSpPr>
        <p:spPr>
          <a:xfrm>
            <a:off x="5394960" y="2011680"/>
            <a:ext cx="1463040" cy="594360"/>
          </a:xfrm>
          <a:prstGeom prst="rect">
            <a:avLst/>
          </a:prstGeom>
          <a:noFill/>
          <a:ln/>
        </p:spPr>
        <p:txBody>
          <a:bodyPr wrap="square" rtlCol="0" anchor="ctr"/>
          <a:lstStyle/>
          <a:p>
            <a:pPr algn="ctr" indent="0" marL="0">
              <a:buNone/>
            </a:pPr>
            <a:r>
              <a:rPr lang="en-US" sz="3600" b="1" dirty="0">
                <a:solidFill>
                  <a:srgbClr val="B85042"/>
                </a:solidFill>
                <a:latin typeface="Calibri" pitchFamily="34" charset="0"/>
                <a:ea typeface="Calibri" pitchFamily="34" charset="-122"/>
                <a:cs typeface="Calibri" pitchFamily="34" charset="-120"/>
              </a:rPr>
              <a:t>38</a:t>
            </a:r>
            <a:endParaRPr lang="en-US" sz="3600" dirty="0"/>
          </a:p>
        </p:txBody>
      </p:sp>
      <p:sp>
        <p:nvSpPr>
          <p:cNvPr id="7" name="Text 4"/>
          <p:cNvSpPr/>
          <p:nvPr/>
        </p:nvSpPr>
        <p:spPr>
          <a:xfrm>
            <a:off x="6949440" y="2103120"/>
            <a:ext cx="1828800" cy="502920"/>
          </a:xfrm>
          <a:prstGeom prst="rect">
            <a:avLst/>
          </a:prstGeom>
          <a:noFill/>
          <a:ln/>
        </p:spPr>
        <p:txBody>
          <a:bodyPr wrap="square" rtlCol="0" anchor="ctr"/>
          <a:lstStyle/>
          <a:p>
            <a:pPr algn="l" indent="0" marL="0">
              <a:buNone/>
            </a:pPr>
            <a:r>
              <a:rPr lang="en-US" sz="1300" dirty="0">
                <a:solidFill>
                  <a:srgbClr val="4A4A4A"/>
                </a:solidFill>
                <a:latin typeface="Calibri" pitchFamily="34" charset="0"/>
                <a:ea typeface="Calibri" pitchFamily="34" charset="-122"/>
                <a:cs typeface="Calibri" pitchFamily="34" charset="-120"/>
              </a:rPr>
              <a:t>Subcontractor Firms</a:t>
            </a:r>
            <a:endParaRPr lang="en-US" sz="1300" dirty="0"/>
          </a:p>
        </p:txBody>
      </p:sp>
      <p:sp>
        <p:nvSpPr>
          <p:cNvPr id="8" name="Text 5"/>
          <p:cNvSpPr/>
          <p:nvPr/>
        </p:nvSpPr>
        <p:spPr>
          <a:xfrm>
            <a:off x="5394960" y="3017520"/>
            <a:ext cx="1463040" cy="594360"/>
          </a:xfrm>
          <a:prstGeom prst="rect">
            <a:avLst/>
          </a:prstGeom>
          <a:noFill/>
          <a:ln/>
        </p:spPr>
        <p:txBody>
          <a:bodyPr wrap="square" rtlCol="0" anchor="ctr"/>
          <a:lstStyle/>
          <a:p>
            <a:pPr algn="ctr" indent="0" marL="0">
              <a:buNone/>
            </a:pPr>
            <a:r>
              <a:rPr lang="en-US" sz="3600" b="1" dirty="0">
                <a:solidFill>
                  <a:srgbClr val="B85042"/>
                </a:solidFill>
                <a:latin typeface="Calibri" pitchFamily="34" charset="0"/>
                <a:ea typeface="Calibri" pitchFamily="34" charset="-122"/>
                <a:cs typeface="Calibri" pitchFamily="34" charset="-120"/>
              </a:rPr>
              <a:t>12</a:t>
            </a:r>
            <a:endParaRPr lang="en-US" sz="3600" dirty="0"/>
          </a:p>
        </p:txBody>
      </p:sp>
      <p:sp>
        <p:nvSpPr>
          <p:cNvPr id="9" name="Text 6"/>
          <p:cNvSpPr/>
          <p:nvPr/>
        </p:nvSpPr>
        <p:spPr>
          <a:xfrm>
            <a:off x="6949440" y="3108960"/>
            <a:ext cx="1828800" cy="502920"/>
          </a:xfrm>
          <a:prstGeom prst="rect">
            <a:avLst/>
          </a:prstGeom>
          <a:noFill/>
          <a:ln/>
        </p:spPr>
        <p:txBody>
          <a:bodyPr wrap="square" rtlCol="0" anchor="ctr"/>
          <a:lstStyle/>
          <a:p>
            <a:pPr algn="l" indent="0" marL="0">
              <a:buNone/>
            </a:pPr>
            <a:r>
              <a:rPr lang="en-US" sz="1300" dirty="0">
                <a:solidFill>
                  <a:srgbClr val="4A4A4A"/>
                </a:solidFill>
                <a:latin typeface="Calibri" pitchFamily="34" charset="0"/>
                <a:ea typeface="Calibri" pitchFamily="34" charset="-122"/>
                <a:cs typeface="Calibri" pitchFamily="34" charset="-120"/>
              </a:rPr>
              <a:t>Nationalities</a:t>
            </a:r>
            <a:endParaRPr lang="en-US" sz="1300" dirty="0"/>
          </a:p>
        </p:txBody>
      </p:sp>
      <p:sp>
        <p:nvSpPr>
          <p:cNvPr id="10" name="Text 7"/>
          <p:cNvSpPr/>
          <p:nvPr/>
        </p:nvSpPr>
        <p:spPr>
          <a:xfrm>
            <a:off x="5394960" y="4023360"/>
            <a:ext cx="1463040" cy="594360"/>
          </a:xfrm>
          <a:prstGeom prst="rect">
            <a:avLst/>
          </a:prstGeom>
          <a:noFill/>
          <a:ln/>
        </p:spPr>
        <p:txBody>
          <a:bodyPr wrap="square" rtlCol="0" anchor="ctr"/>
          <a:lstStyle/>
          <a:p>
            <a:pPr algn="ctr" indent="0" marL="0">
              <a:buNone/>
            </a:pPr>
            <a:r>
              <a:rPr lang="en-US" sz="3600" b="1" dirty="0">
                <a:solidFill>
                  <a:srgbClr val="B85042"/>
                </a:solidFill>
                <a:latin typeface="Calibri" pitchFamily="34" charset="0"/>
                <a:ea typeface="Calibri" pitchFamily="34" charset="-122"/>
                <a:cs typeface="Calibri" pitchFamily="34" charset="-120"/>
              </a:rPr>
              <a:t>94%</a:t>
            </a:r>
            <a:endParaRPr lang="en-US" sz="3600" dirty="0"/>
          </a:p>
        </p:txBody>
      </p:sp>
      <p:sp>
        <p:nvSpPr>
          <p:cNvPr id="11" name="Text 8"/>
          <p:cNvSpPr/>
          <p:nvPr/>
        </p:nvSpPr>
        <p:spPr>
          <a:xfrm>
            <a:off x="6949440" y="4114800"/>
            <a:ext cx="1828800" cy="502920"/>
          </a:xfrm>
          <a:prstGeom prst="rect">
            <a:avLst/>
          </a:prstGeom>
          <a:noFill/>
          <a:ln/>
        </p:spPr>
        <p:txBody>
          <a:bodyPr wrap="square" rtlCol="0" anchor="ctr"/>
          <a:lstStyle/>
          <a:p>
            <a:pPr algn="l" indent="0" marL="0">
              <a:buNone/>
            </a:pPr>
            <a:r>
              <a:rPr lang="en-US" sz="1300" dirty="0">
                <a:solidFill>
                  <a:srgbClr val="4A4A4A"/>
                </a:solidFill>
                <a:latin typeface="Calibri" pitchFamily="34" charset="0"/>
                <a:ea typeface="Calibri" pitchFamily="34" charset="-122"/>
                <a:cs typeface="Calibri" pitchFamily="34" charset="-120"/>
              </a:rPr>
              <a:t>Attendance Rate (May)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C2C2C"/>
        </a:solidFill>
      </p:bgPr>
    </p:bg>
    <p:spTree>
      <p:nvGrpSpPr>
        <p:cNvPr id="1" name=""/>
        <p:cNvGrpSpPr/>
        <p:nvPr/>
      </p:nvGrpSpPr>
      <p:grpSpPr>
        <a:xfrm>
          <a:off x="0" y="0"/>
          <a:ext cx="0" cy="0"/>
          <a:chOff x="0" y="0"/>
          <a:chExt cx="0" cy="0"/>
        </a:xfrm>
      </p:grpSpPr>
      <p:sp>
        <p:nvSpPr>
          <p:cNvPr id="2" name="Text 0"/>
          <p:cNvSpPr/>
          <p:nvPr/>
        </p:nvSpPr>
        <p:spPr>
          <a:xfrm>
            <a:off x="548640" y="731520"/>
            <a:ext cx="8046720" cy="731520"/>
          </a:xfrm>
          <a:prstGeom prst="rect">
            <a:avLst/>
          </a:prstGeom>
          <a:noFill/>
          <a:ln/>
        </p:spPr>
        <p:txBody>
          <a:bodyPr wrap="square" rtlCol="0" anchor="ctr"/>
          <a:lstStyle/>
          <a:p>
            <a:pPr indent="0" marL="0">
              <a:buNone/>
            </a:pPr>
            <a:r>
              <a:rPr lang="en-US" sz="3600" b="1" dirty="0">
                <a:solidFill>
                  <a:srgbClr val="B85042"/>
                </a:solidFill>
                <a:latin typeface="Calibri" pitchFamily="34" charset="0"/>
                <a:ea typeface="Calibri" pitchFamily="34" charset="-122"/>
                <a:cs typeface="Calibri" pitchFamily="34" charset="-120"/>
              </a:rPr>
              <a:t>Q3 2026 — Next Steps</a:t>
            </a:r>
            <a:endParaRPr lang="en-US" sz="3600" dirty="0"/>
          </a:p>
        </p:txBody>
      </p:sp>
      <p:sp>
        <p:nvSpPr>
          <p:cNvPr id="3" name="Text 1"/>
          <p:cNvSpPr/>
          <p:nvPr/>
        </p:nvSpPr>
        <p:spPr>
          <a:xfrm>
            <a:off x="548640" y="1645920"/>
            <a:ext cx="7680960" cy="3108960"/>
          </a:xfrm>
          <a:prstGeom prst="rect">
            <a:avLst/>
          </a:prstGeom>
          <a:noFill/>
          <a:ln/>
        </p:spPr>
        <p:txBody>
          <a:bodyPr wrap="square" rtlCol="0" anchor="ctr"/>
          <a:lstStyle/>
          <a:p>
            <a:pPr marL="342900" indent="-342900">
              <a:buSzPct val="100000"/>
              <a:buChar char="•"/>
            </a:pPr>
            <a:r>
              <a:rPr lang="en-US" sz="1600" dirty="0">
                <a:solidFill>
                  <a:srgbClr val="E7E8D1"/>
                </a:solidFill>
                <a:latin typeface="Calibri" pitchFamily="34" charset="0"/>
                <a:ea typeface="Calibri" pitchFamily="34" charset="-122"/>
                <a:cs typeface="Calibri" pitchFamily="34" charset="-120"/>
              </a:rPr>
              <a:t>Complete floors 11–20 structural work by July 31</a:t>
            </a:r>
            <a:endParaRPr lang="en-US" sz="1600" dirty="0"/>
          </a:p>
          <a:p>
            <a:pPr marL="342900" indent="-342900">
              <a:buSzPct val="100000"/>
              <a:buChar char="•"/>
            </a:pPr>
            <a:r>
              <a:rPr lang="en-US" sz="1600" dirty="0">
                <a:solidFill>
                  <a:srgbClr val="E7E8D1"/>
                </a:solidFill>
                <a:latin typeface="Calibri" pitchFamily="34" charset="0"/>
                <a:ea typeface="Calibri" pitchFamily="34" charset="-122"/>
                <a:cs typeface="Calibri" pitchFamily="34" charset="-120"/>
              </a:rPr>
              <a:t>Mobilise MEP night shift from July 1</a:t>
            </a:r>
            <a:endParaRPr lang="en-US" sz="1600" dirty="0"/>
          </a:p>
          <a:p>
            <a:pPr marL="342900" indent="-342900">
              <a:buSzPct val="100000"/>
              <a:buChar char="•"/>
            </a:pPr>
            <a:r>
              <a:rPr lang="en-US" sz="1600" dirty="0">
                <a:solidFill>
                  <a:srgbClr val="E7E8D1"/>
                </a:solidFill>
                <a:latin typeface="Calibri" pitchFamily="34" charset="0"/>
                <a:ea typeface="Calibri" pitchFamily="34" charset="-122"/>
                <a:cs typeface="Calibri" pitchFamily="34" charset="-120"/>
              </a:rPr>
              <a:t>Resolve TMT Rebar shortfall — secondary supplier delivery by June 20</a:t>
            </a:r>
            <a:endParaRPr lang="en-US" sz="1600" dirty="0"/>
          </a:p>
          <a:p>
            <a:pPr marL="342900" indent="-342900">
              <a:buSzPct val="100000"/>
              <a:buChar char="•"/>
            </a:pPr>
            <a:r>
              <a:rPr lang="en-US" sz="1600" dirty="0">
                <a:solidFill>
                  <a:srgbClr val="E7E8D1"/>
                </a:solidFill>
                <a:latin typeface="Calibri" pitchFamily="34" charset="0"/>
                <a:ea typeface="Calibri" pitchFamily="34" charset="-122"/>
                <a:cs typeface="Calibri" pitchFamily="34" charset="-120"/>
              </a:rPr>
              <a:t>Award AAC Block masonry subcontract by June 25</a:t>
            </a:r>
            <a:endParaRPr lang="en-US" sz="1600" dirty="0"/>
          </a:p>
          <a:p>
            <a:pPr marL="342900" indent="-342900">
              <a:buSzPct val="100000"/>
              <a:buChar char="•"/>
            </a:pPr>
            <a:r>
              <a:rPr lang="en-US" sz="1600" dirty="0">
                <a:solidFill>
                  <a:srgbClr val="E7E8D1"/>
                </a:solidFill>
                <a:latin typeface="Calibri" pitchFamily="34" charset="0"/>
                <a:ea typeface="Calibri" pitchFamily="34" charset="-122"/>
                <a:cs typeface="Calibri" pitchFamily="34" charset="-120"/>
              </a:rPr>
              <a:t>Submit change order for additional mechanical floor to client by June 30</a:t>
            </a:r>
            <a:endParaRPr lang="en-US" sz="1600" dirty="0"/>
          </a:p>
          <a:p>
            <a:pPr marL="342900" indent="-342900">
              <a:buSzPct val="100000"/>
              <a:buChar char="•"/>
            </a:pPr>
            <a:r>
              <a:rPr lang="en-US" sz="1600" dirty="0">
                <a:solidFill>
                  <a:srgbClr val="E7E8D1"/>
                </a:solidFill>
                <a:latin typeface="Calibri" pitchFamily="34" charset="0"/>
                <a:ea typeface="Calibri" pitchFamily="34" charset="-122"/>
                <a:cs typeface="Calibri" pitchFamily="34" charset="-120"/>
              </a:rPr>
              <a:t>Q3 safety target: zero lost-time incidents</a:t>
            </a:r>
            <a:endParaRPr lang="en-US" sz="1600" dirty="0"/>
          </a:p>
        </p:txBody>
      </p:sp>
      <p:sp>
        <p:nvSpPr>
          <p:cNvPr id="4" name="Text 2"/>
          <p:cNvSpPr/>
          <p:nvPr/>
        </p:nvSpPr>
        <p:spPr>
          <a:xfrm>
            <a:off x="548640" y="4663440"/>
            <a:ext cx="8046720" cy="320040"/>
          </a:xfrm>
          <a:prstGeom prst="rect">
            <a:avLst/>
          </a:prstGeom>
          <a:noFill/>
          <a:ln/>
        </p:spPr>
        <p:txBody>
          <a:bodyPr wrap="square" rtlCol="0" anchor="ctr"/>
          <a:lstStyle/>
          <a:p>
            <a:pPr indent="0" marL="0">
              <a:buNone/>
            </a:pPr>
            <a:r>
              <a:rPr lang="en-US" sz="1300" i="1" dirty="0">
                <a:solidFill>
                  <a:srgbClr val="888888"/>
                </a:solidFill>
                <a:latin typeface="Calibri" pitchFamily="34" charset="0"/>
                <a:ea typeface="Calibri" pitchFamily="34" charset="-122"/>
                <a:cs typeface="Calibri" pitchFamily="34" charset="-120"/>
              </a:rPr>
              <a:t>Next review: July 15,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Skyline Tower — Construction Project Report</dc:title>
  <dc:subject>PptxGenJS Presentation</dc:subject>
  <dc:creator>PptxGenJS</dc:creator>
  <cp:lastModifiedBy>PptxGenJS</cp:lastModifiedBy>
  <cp:revision>1</cp:revision>
  <dcterms:created xsi:type="dcterms:W3CDTF">2026-06-05T10:43:32Z</dcterms:created>
  <dcterms:modified xsi:type="dcterms:W3CDTF">2026-06-05T10:43:32Z</dcterms:modified>
</cp:coreProperties>
</file>