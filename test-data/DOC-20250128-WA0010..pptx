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Open Sans" panose="020B0606030504020204" pitchFamily="34" charset="0"/>
      <p:regular r:id="rId12"/>
      <p:bold r:id="rId13"/>
      <p:italic r:id="rId14"/>
      <p:boldItalic r:id="rId15"/>
    </p:embeddedFont>
    <p:embeddedFont>
      <p:font typeface="Prata"/>
      <p:regular r:id="rId16"/>
    </p:embeddedFont>
    <p:embeddedFont>
      <p:font typeface="Raleway" panose="02000000000000000000" pitchFamily="2" charset="0"/>
      <p:regular r:id="rId17"/>
      <p:bold r:id="rId18"/>
      <p:italic r:id="rId19"/>
      <p:boldItalic r:id="rId20"/>
    </p:embeddedFont>
    <p:embeddedFont>
      <p:font typeface="Raleway Bold" pitchFamily="2" charset="0"/>
      <p:bold r:id="rId21"/>
    </p:embeddedFont>
    <p:embeddedFont>
      <p:font typeface="Tw Cen MT" panose="02000000000000000000" pitchFamily="2" charset="0"/>
      <p:regular r:id="rId22"/>
      <p:bold r:id="rId23"/>
      <p:italic r:id="rId24"/>
      <p:boldItalic r:id="rId25"/>
    </p:embeddedFont>
    <p:embeddedFont>
      <p:font typeface="Tw Cen MT Condensed" panose="020B0602020104020603" pitchFamily="34" charset="0"/>
      <p:regular r:id="rId26"/>
      <p:bold r:id="rId27"/>
    </p:embeddedFont>
    <p:embeddedFont>
      <p:font typeface="Wingdings 3" pitchFamily="2" charset="2"/>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1515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2.fntdata" /><Relationship Id="rId18" Type="http://schemas.openxmlformats.org/officeDocument/2006/relationships/font" Target="fonts/font7.fntdata" /><Relationship Id="rId26" Type="http://schemas.openxmlformats.org/officeDocument/2006/relationships/font" Target="fonts/font15.fntdata" /><Relationship Id="rId3" Type="http://schemas.openxmlformats.org/officeDocument/2006/relationships/slide" Target="slides/slide2.xml" /><Relationship Id="rId21" Type="http://schemas.openxmlformats.org/officeDocument/2006/relationships/font" Target="fonts/font10.fntdata" /><Relationship Id="rId7" Type="http://schemas.openxmlformats.org/officeDocument/2006/relationships/slide" Target="slides/slide6.xml" /><Relationship Id="rId12" Type="http://schemas.openxmlformats.org/officeDocument/2006/relationships/font" Target="fonts/font1.fntdata" /><Relationship Id="rId17" Type="http://schemas.openxmlformats.org/officeDocument/2006/relationships/font" Target="fonts/font6.fntdata" /><Relationship Id="rId25" Type="http://schemas.openxmlformats.org/officeDocument/2006/relationships/font" Target="fonts/font14.fntdata" /><Relationship Id="rId2" Type="http://schemas.openxmlformats.org/officeDocument/2006/relationships/slide" Target="slides/slide1.xml" /><Relationship Id="rId16" Type="http://schemas.openxmlformats.org/officeDocument/2006/relationships/font" Target="fonts/font5.fntdata" /><Relationship Id="rId20" Type="http://schemas.openxmlformats.org/officeDocument/2006/relationships/font" Target="fonts/font9.fntdata"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24" Type="http://schemas.openxmlformats.org/officeDocument/2006/relationships/font" Target="fonts/font13.fntdata"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font" Target="fonts/font4.fntdata" /><Relationship Id="rId23" Type="http://schemas.openxmlformats.org/officeDocument/2006/relationships/font" Target="fonts/font12.fntdata" /><Relationship Id="rId28" Type="http://schemas.openxmlformats.org/officeDocument/2006/relationships/font" Target="fonts/font17.fntdata" /><Relationship Id="rId10" Type="http://schemas.openxmlformats.org/officeDocument/2006/relationships/slide" Target="slides/slide9.xml" /><Relationship Id="rId19" Type="http://schemas.openxmlformats.org/officeDocument/2006/relationships/font" Target="fonts/font8.fntdata"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3.fntdata" /><Relationship Id="rId22" Type="http://schemas.openxmlformats.org/officeDocument/2006/relationships/font" Target="fonts/font11.fntdata" /><Relationship Id="rId27" Type="http://schemas.openxmlformats.org/officeDocument/2006/relationships/font" Target="fonts/font16.fntdata" /><Relationship Id="rId30"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17DD4EBB-0F0D-814B-8717-67A9F0FD6BF4}" type="datetimeFigureOut">
              <a:rPr lang="en-US" smtClean="0"/>
              <a:t>1/29/2025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CCCB1961-F8C9-0243-B5C2-E477AF6D300C}" type="slidenum">
              <a:rPr lang="en-US" smtClean="0"/>
              <a:t>‹#›</a:t>
            </a:fld>
            <a:endParaRPr lang="en-US"/>
          </a:p>
        </p:txBody>
      </p:sp>
    </p:spTree>
    <p:extLst>
      <p:ext uri="{BB962C8B-B14F-4D97-AF65-F5344CB8AC3E}">
        <p14:creationId xmlns:p14="http://schemas.microsoft.com/office/powerpoint/2010/main" val="338307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1"/>
            <a:ext cx="14630400" cy="54864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4630400" cy="54864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48640" y="5952164"/>
            <a:ext cx="9326880" cy="1755648"/>
          </a:xfrm>
        </p:spPr>
        <p:txBody>
          <a:bodyPr anchor="ctr">
            <a:normAutofit/>
          </a:bodyPr>
          <a:lstStyle>
            <a:lvl1pPr algn="r">
              <a:defRPr sz="6000" spc="240" baseline="0"/>
            </a:lvl1pPr>
          </a:lstStyle>
          <a:p>
            <a:r>
              <a:rPr lang="en-US"/>
              <a:t>Click to edit Master title style</a:t>
            </a:r>
            <a:endParaRPr lang="en-US" dirty="0"/>
          </a:p>
        </p:txBody>
      </p:sp>
      <p:sp>
        <p:nvSpPr>
          <p:cNvPr id="3" name="Subtitle 2"/>
          <p:cNvSpPr>
            <a:spLocks noGrp="1"/>
          </p:cNvSpPr>
          <p:nvPr>
            <p:ph type="subTitle" idx="1"/>
          </p:nvPr>
        </p:nvSpPr>
        <p:spPr>
          <a:xfrm>
            <a:off x="10332720" y="5952164"/>
            <a:ext cx="3840480" cy="1755648"/>
          </a:xfrm>
        </p:spPr>
        <p:txBody>
          <a:bodyPr lIns="91440" rIns="91440" anchor="ctr">
            <a:normAutofit/>
          </a:bodyPr>
          <a:lstStyle>
            <a:lvl1pPr marL="0" indent="0" algn="l">
              <a:lnSpc>
                <a:spcPct val="100000"/>
              </a:lnSpc>
              <a:spcBef>
                <a:spcPts val="0"/>
              </a:spcBef>
              <a:buNone/>
              <a:defRPr sz="2160">
                <a:solidFill>
                  <a:schemeClr val="tx1">
                    <a:lumMod val="95000"/>
                    <a:lumOff val="5000"/>
                  </a:schemeClr>
                </a:solidFill>
              </a:defRPr>
            </a:lvl1pPr>
            <a:lvl2pPr marL="548640" indent="0" algn="ctr">
              <a:buNone/>
              <a:defRPr sz="2160"/>
            </a:lvl2pPr>
            <a:lvl3pPr marL="1097280" indent="0" algn="ctr">
              <a:buNone/>
              <a:defRPr sz="2160"/>
            </a:lvl3pPr>
            <a:lvl4pPr marL="1645920" indent="0" algn="ctr">
              <a:buNone/>
              <a:defRPr sz="2160"/>
            </a:lvl4pPr>
            <a:lvl5pPr marL="2194560" indent="0" algn="ctr">
              <a:buNone/>
              <a:defRPr sz="2160"/>
            </a:lvl5pPr>
            <a:lvl6pPr marL="2743200" indent="0" algn="ctr">
              <a:buNone/>
              <a:defRPr sz="2160"/>
            </a:lvl6pPr>
            <a:lvl7pPr marL="3291840" indent="0" algn="ctr">
              <a:buNone/>
              <a:defRPr sz="2160"/>
            </a:lvl7pPr>
            <a:lvl8pPr marL="3840480" indent="0" algn="ctr">
              <a:buNone/>
              <a:defRPr sz="2160"/>
            </a:lvl8pPr>
            <a:lvl9pPr marL="4389120" indent="0" algn="ctr">
              <a:buNone/>
              <a:defRPr sz="21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10064212" y="6316927"/>
            <a:ext cx="0" cy="10972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56176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1572604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4630400" cy="54864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4630400" cy="54864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5952164"/>
            <a:ext cx="9326880" cy="1755648"/>
          </a:xfrm>
        </p:spPr>
        <p:txBody>
          <a:bodyPr anchor="ctr">
            <a:normAutofit/>
          </a:bodyPr>
          <a:lstStyle>
            <a:lvl1pPr algn="r">
              <a:defRPr sz="6000" b="0" spc="240" baseline="0"/>
            </a:lvl1pPr>
          </a:lstStyle>
          <a:p>
            <a:r>
              <a:rPr lang="en-US"/>
              <a:t>Click to edit Master title style</a:t>
            </a:r>
            <a:endParaRPr lang="en-US" dirty="0"/>
          </a:p>
        </p:txBody>
      </p:sp>
      <p:sp>
        <p:nvSpPr>
          <p:cNvPr id="3" name="Text Placeholder 2"/>
          <p:cNvSpPr>
            <a:spLocks noGrp="1"/>
          </p:cNvSpPr>
          <p:nvPr>
            <p:ph type="body" idx="1"/>
          </p:nvPr>
        </p:nvSpPr>
        <p:spPr>
          <a:xfrm>
            <a:off x="10332720" y="5952164"/>
            <a:ext cx="3840480" cy="1755648"/>
          </a:xfrm>
        </p:spPr>
        <p:txBody>
          <a:bodyPr lIns="91440" rIns="91440" anchor="ctr">
            <a:normAutofit/>
          </a:bodyPr>
          <a:lstStyle>
            <a:lvl1pPr marL="0" indent="0">
              <a:lnSpc>
                <a:spcPct val="100000"/>
              </a:lnSpc>
              <a:spcBef>
                <a:spcPts val="0"/>
              </a:spcBef>
              <a:buNone/>
              <a:defRPr sz="2160">
                <a:solidFill>
                  <a:schemeClr val="tx1">
                    <a:lumMod val="95000"/>
                    <a:lumOff val="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10064212" y="6316927"/>
            <a:ext cx="0" cy="10972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9697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8954" y="702259"/>
            <a:ext cx="11664086" cy="179953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228952" y="2743200"/>
            <a:ext cx="570585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87184" y="2743200"/>
            <a:ext cx="570585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982305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28954" y="2615563"/>
            <a:ext cx="5705856" cy="987552"/>
          </a:xfrm>
        </p:spPr>
        <p:txBody>
          <a:bodyPr lIns="137160" rIns="137160" anchor="ctr">
            <a:normAutofit/>
          </a:bodyPr>
          <a:lstStyle>
            <a:lvl1pPr marL="0" indent="0">
              <a:spcBef>
                <a:spcPts val="0"/>
              </a:spcBef>
              <a:spcAft>
                <a:spcPts val="0"/>
              </a:spcAft>
              <a:buNone/>
              <a:defRPr sz="2760" b="0" cap="none" baseline="0">
                <a:solidFill>
                  <a:schemeClr val="accent1"/>
                </a:solidFill>
                <a:latin typeface="+mn-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28954" y="3561346"/>
            <a:ext cx="5705856" cy="4009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189066" y="2615563"/>
            <a:ext cx="5705856" cy="987552"/>
          </a:xfrm>
        </p:spPr>
        <p:txBody>
          <a:bodyPr lIns="137160" rIns="137160" anchor="ctr">
            <a:normAutofit/>
          </a:bodyPr>
          <a:lstStyle>
            <a:lvl1pPr marL="0" indent="0">
              <a:spcBef>
                <a:spcPts val="0"/>
              </a:spcBef>
              <a:spcAft>
                <a:spcPts val="0"/>
              </a:spcAft>
              <a:buNone/>
              <a:defRPr lang="en-US" sz="2760" b="0" kern="1200" cap="none" baseline="0" dirty="0">
                <a:solidFill>
                  <a:schemeClr val="accent1"/>
                </a:solidFill>
                <a:latin typeface="+mn-lt"/>
                <a:ea typeface="+mn-ea"/>
                <a:cs typeface="+mn-cs"/>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marL="0" lvl="0" indent="0" algn="l" defTabSz="1097280" rtl="0" eaLnBrk="1" latinLnBrk="0" hangingPunct="1">
              <a:lnSpc>
                <a:spcPct val="90000"/>
              </a:lnSpc>
              <a:spcBef>
                <a:spcPts val="2160"/>
              </a:spcBef>
              <a:buNone/>
            </a:pPr>
            <a:r>
              <a:rPr lang="en-US"/>
              <a:t>Click to edit Master text styles</a:t>
            </a:r>
          </a:p>
        </p:txBody>
      </p:sp>
      <p:sp>
        <p:nvSpPr>
          <p:cNvPr id="6" name="Content Placeholder 5"/>
          <p:cNvSpPr>
            <a:spLocks noGrp="1"/>
          </p:cNvSpPr>
          <p:nvPr>
            <p:ph sz="quarter" idx="4"/>
          </p:nvPr>
        </p:nvSpPr>
        <p:spPr>
          <a:xfrm>
            <a:off x="7189066" y="3561346"/>
            <a:ext cx="5705856" cy="4009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2333873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3141865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469342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228954" y="565811"/>
            <a:ext cx="5266944" cy="2084832"/>
          </a:xfrm>
        </p:spPr>
        <p:txBody>
          <a:bodyPr>
            <a:noAutofit/>
          </a:bodyPr>
          <a:lstStyle>
            <a:lvl1pPr>
              <a:lnSpc>
                <a:spcPct val="80000"/>
              </a:lnSpc>
              <a:defRPr sz="4800"/>
            </a:lvl1pPr>
          </a:lstStyle>
          <a:p>
            <a:r>
              <a:rPr lang="en-US"/>
              <a:t>Click to edit Master title style</a:t>
            </a:r>
            <a:endParaRPr lang="en-US" dirty="0"/>
          </a:p>
        </p:txBody>
      </p:sp>
      <p:sp>
        <p:nvSpPr>
          <p:cNvPr id="3" name="Content Placeholder 2"/>
          <p:cNvSpPr>
            <a:spLocks noGrp="1"/>
          </p:cNvSpPr>
          <p:nvPr>
            <p:ph idx="1"/>
          </p:nvPr>
        </p:nvSpPr>
        <p:spPr>
          <a:xfrm>
            <a:off x="6858000" y="987552"/>
            <a:ext cx="6814109" cy="6221578"/>
          </a:xfrm>
        </p:spPr>
        <p:txBody>
          <a:bodyPr/>
          <a:lstStyle>
            <a:lvl1pPr>
              <a:defRPr sz="2880"/>
            </a:lvl1pPr>
            <a:lvl2pPr>
              <a:defRPr sz="240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28954" y="2709007"/>
            <a:ext cx="5266944" cy="4514753"/>
          </a:xfrm>
        </p:spPr>
        <p:txBody>
          <a:bodyPr lIns="91440" rIns="91440">
            <a:normAutofit/>
          </a:bodyPr>
          <a:lstStyle>
            <a:lvl1pPr marL="0" indent="0">
              <a:lnSpc>
                <a:spcPct val="108000"/>
              </a:lnSpc>
              <a:spcBef>
                <a:spcPts val="720"/>
              </a:spcBef>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3652591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5952166"/>
            <a:ext cx="9326880" cy="1755648"/>
          </a:xfrm>
        </p:spPr>
        <p:txBody>
          <a:bodyPr anchor="ctr">
            <a:normAutofit/>
          </a:bodyPr>
          <a:lstStyle>
            <a:lvl1pPr algn="r">
              <a:defRPr sz="6000" spc="24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4626742" cy="5486400"/>
          </a:xfrm>
          <a:solidFill>
            <a:schemeClr val="accent1">
              <a:lumMod val="60000"/>
              <a:lumOff val="40000"/>
            </a:schemeClr>
          </a:solidFill>
        </p:spPr>
        <p:txBody>
          <a:bodyPr lIns="457200" tIns="365760" rIns="45720" bIns="45720"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332720" y="5952166"/>
            <a:ext cx="3840480" cy="1755648"/>
          </a:xfrm>
        </p:spPr>
        <p:txBody>
          <a:bodyPr lIns="91440" rIns="91440" anchor="ctr">
            <a:normAutofit/>
          </a:bodyPr>
          <a:lstStyle>
            <a:lvl1pPr marL="0" indent="0">
              <a:lnSpc>
                <a:spcPct val="100000"/>
              </a:lnSpc>
              <a:spcBef>
                <a:spcPts val="0"/>
              </a:spcBef>
              <a:buNone/>
              <a:defRPr sz="2160">
                <a:solidFill>
                  <a:schemeClr val="tx1">
                    <a:lumMod val="95000"/>
                    <a:lumOff val="5000"/>
                  </a:schemeClr>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10064212" y="6316927"/>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371913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7758786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1" y="914400"/>
            <a:ext cx="3154680" cy="649224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1188721" y="914400"/>
            <a:ext cx="9098280" cy="64922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2070080" y="71116"/>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48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540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140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00366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5350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6862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7437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41044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1396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20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 Type="http://schemas.openxmlformats.org/officeDocument/2006/relationships/slideLayout" Target="../slideLayouts/slideLayout3.xml" /><Relationship Id="rId21" Type="http://schemas.openxmlformats.org/officeDocument/2006/relationships/theme" Target="../theme/theme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28954" y="702259"/>
            <a:ext cx="11664086" cy="179953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28954" y="2743200"/>
            <a:ext cx="11664088" cy="4828032"/>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28955" y="7764845"/>
            <a:ext cx="2584972" cy="329184"/>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90298CD5-6C1E-4009-B41F-6DF62E31D3BE}" type="datetimeFigureOut">
              <a:rPr lang="en-US" dirty="0"/>
              <a:pPr/>
              <a:t>1/29/2025</a:t>
            </a:fld>
            <a:endParaRPr lang="en-US" dirty="0"/>
          </a:p>
        </p:txBody>
      </p:sp>
      <p:sp>
        <p:nvSpPr>
          <p:cNvPr id="5" name="Footer Placeholder 4"/>
          <p:cNvSpPr>
            <a:spLocks noGrp="1"/>
          </p:cNvSpPr>
          <p:nvPr>
            <p:ph type="ftr" sz="quarter" idx="3"/>
          </p:nvPr>
        </p:nvSpPr>
        <p:spPr>
          <a:xfrm>
            <a:off x="5811519" y="7764845"/>
            <a:ext cx="7081751" cy="329184"/>
          </a:xfrm>
          <a:prstGeom prst="rect">
            <a:avLst/>
          </a:prstGeom>
        </p:spPr>
        <p:txBody>
          <a:bodyPr vert="horz" lIns="91440" tIns="45720" rIns="91440" bIns="45720" rtlCol="0" anchor="ctr"/>
          <a:lstStyle>
            <a:lvl1pPr algn="r">
              <a:defRPr sz="12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3004800" y="7764845"/>
            <a:ext cx="1168400" cy="329184"/>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914400" y="991589"/>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7007392"/>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Lst>
  <p:hf sldNum="0" hdr="0" ftr="0" dt="0"/>
  <p:txStyles>
    <p:titleStyle>
      <a:lvl1pPr algn="l" defTabSz="1097280" rtl="0" eaLnBrk="1" latinLnBrk="0" hangingPunct="1">
        <a:lnSpc>
          <a:spcPct val="80000"/>
        </a:lnSpc>
        <a:spcBef>
          <a:spcPct val="0"/>
        </a:spcBef>
        <a:buNone/>
        <a:defRPr sz="6000" kern="1200" cap="all" spc="120" baseline="0">
          <a:solidFill>
            <a:schemeClr val="tx1">
              <a:lumMod val="95000"/>
              <a:lumOff val="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Tw Cen MT" panose="020B0602020104020603" pitchFamily="34" charset="0"/>
        <a:buChar char=" "/>
        <a:defRPr sz="2640" kern="1200">
          <a:solidFill>
            <a:schemeClr val="tx1"/>
          </a:solidFill>
          <a:latin typeface="+mn-lt"/>
          <a:ea typeface="+mn-ea"/>
          <a:cs typeface="+mn-cs"/>
        </a:defRPr>
      </a:lvl1pPr>
      <a:lvl2pPr marL="318211" indent="-164592" algn="l" defTabSz="1097280" rtl="0" eaLnBrk="1" latinLnBrk="0" hangingPunct="1">
        <a:lnSpc>
          <a:spcPct val="90000"/>
        </a:lnSpc>
        <a:spcBef>
          <a:spcPts val="240"/>
        </a:spcBef>
        <a:spcAft>
          <a:spcPts val="480"/>
        </a:spcAft>
        <a:buClr>
          <a:schemeClr val="accent1"/>
        </a:buClr>
        <a:buFont typeface="Wingdings 3" pitchFamily="18" charset="2"/>
        <a:buChar char=""/>
        <a:defRPr sz="2160" kern="1200">
          <a:solidFill>
            <a:schemeClr val="tx1"/>
          </a:solidFill>
          <a:latin typeface="+mn-lt"/>
          <a:ea typeface="+mn-ea"/>
          <a:cs typeface="+mn-cs"/>
        </a:defRPr>
      </a:lvl2pPr>
      <a:lvl3pPr marL="537667"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3pPr>
      <a:lvl4pPr marL="713232"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4pPr>
      <a:lvl5pPr marL="932688"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5pPr>
      <a:lvl6pPr marL="1097280"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6pPr>
      <a:lvl7pPr marL="1272845"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7pPr>
      <a:lvl8pPr marL="1459382"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8pPr>
      <a:lvl9pPr marL="1634947"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12.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3.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14.xml" /></Relationships>
</file>

<file path=ppt/slides/_rels/slide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15.xml" /><Relationship Id="rId4" Type="http://schemas.openxmlformats.org/officeDocument/2006/relationships/image" Target="../media/image6.png"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6.xml"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6.xml" /><Relationship Id="rId1" Type="http://schemas.openxmlformats.org/officeDocument/2006/relationships/slideLayout" Target="../slideLayouts/slideLayout17.xml" /><Relationship Id="rId6" Type="http://schemas.openxmlformats.org/officeDocument/2006/relationships/image" Target="../media/image10.png" /><Relationship Id="rId5" Type="http://schemas.openxmlformats.org/officeDocument/2006/relationships/image" Target="../media/image9.png" /><Relationship Id="rId4" Type="http://schemas.openxmlformats.org/officeDocument/2006/relationships/image" Target="../media/image8.png" /></Relationships>
</file>

<file path=ppt/slides/_rels/slide7.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7.xml" /><Relationship Id="rId1" Type="http://schemas.openxmlformats.org/officeDocument/2006/relationships/slideLayout" Target="../slideLayouts/slideLayout18.xml" /><Relationship Id="rId5" Type="http://schemas.openxmlformats.org/officeDocument/2006/relationships/image" Target="../media/image13.png" /><Relationship Id="rId4" Type="http://schemas.openxmlformats.org/officeDocument/2006/relationships/image" Target="../media/image12.png"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9.xml" /></Relationships>
</file>

<file path=ppt/slides/_rels/slide9.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9.xml" /><Relationship Id="rId1" Type="http://schemas.openxmlformats.org/officeDocument/2006/relationships/slideLayout" Target="../slideLayouts/slideLayout20.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21180"/>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Gender Inequality: A Barrier to Progress</a:t>
            </a:r>
            <a:endParaRPr lang="en-US" sz="4450" dirty="0"/>
          </a:p>
        </p:txBody>
      </p:sp>
      <p:sp>
        <p:nvSpPr>
          <p:cNvPr id="4" name="Text 1"/>
          <p:cNvSpPr/>
          <p:nvPr/>
        </p:nvSpPr>
        <p:spPr>
          <a:xfrm>
            <a:off x="6034863" y="3504129"/>
            <a:ext cx="7556421" cy="2177415"/>
          </a:xfrm>
          <a:prstGeom prst="rect">
            <a:avLst/>
          </a:prstGeom>
          <a:noFill/>
          <a:ln/>
        </p:spPr>
        <p:txBody>
          <a:bodyPr wrap="square" lIns="0" tIns="0" rIns="0" bIns="0" rtlCol="0" anchor="t"/>
          <a:lstStyle/>
          <a:p>
            <a:pPr marL="0" indent="0">
              <a:lnSpc>
                <a:spcPts val="2850"/>
              </a:lnSpc>
              <a:buNone/>
            </a:pPr>
            <a:r>
              <a:rPr lang="en-US" sz="1750" dirty="0">
                <a:solidFill>
                  <a:schemeClr val="bg1">
                    <a:lumMod val="95000"/>
                  </a:schemeClr>
                </a:solidFill>
              </a:rPr>
              <a:t>Gender inequality is a problem worldwide, rooted in the social, economic, and political structures of various countries. In simple terms, inequalities caused by gender affect women and girls in many ways, such as being deprived of education, healthcare, and job opportunities and the </a:t>
            </a:r>
            <a:r>
              <a:rPr lang="en-US" sz="1750" dirty="0" err="1">
                <a:solidFill>
                  <a:schemeClr val="bg1">
                    <a:lumMod val="95000"/>
                  </a:schemeClr>
                </a:solidFill>
              </a:rPr>
              <a:t>honour</a:t>
            </a:r>
            <a:r>
              <a:rPr lang="en-US" sz="1750" dirty="0">
                <a:solidFill>
                  <a:schemeClr val="bg1">
                    <a:lumMod val="95000"/>
                  </a:schemeClr>
                </a:solidFill>
              </a:rPr>
              <a:t> to be in actual leadership. This presentation tries to unpack the complicated issue of gender inequality, its implications, and the current efforts toward addressing it.</a:t>
            </a:r>
          </a:p>
        </p:txBody>
      </p:sp>
      <p:sp>
        <p:nvSpPr>
          <p:cNvPr id="5" name="Shape 2"/>
          <p:cNvSpPr/>
          <p:nvPr/>
        </p:nvSpPr>
        <p:spPr>
          <a:xfrm>
            <a:off x="6280190" y="6028373"/>
            <a:ext cx="362903" cy="362903"/>
          </a:xfrm>
          <a:prstGeom prst="roundRect">
            <a:avLst>
              <a:gd name="adj" fmla="val 25194296"/>
            </a:avLst>
          </a:prstGeom>
          <a:noFill/>
          <a:ln w="7620">
            <a:solidFill>
              <a:srgbClr val="FFFFFF"/>
            </a:solidFill>
            <a:prstDash val="solid"/>
          </a:ln>
        </p:spPr>
      </p:sp>
      <p:pic>
        <p:nvPicPr>
          <p:cNvPr id="6" name="Image 1" descr="preencoded.png"/>
          <p:cNvPicPr>
            <a:picLocks noChangeAspect="1"/>
          </p:cNvPicPr>
          <p:nvPr/>
        </p:nvPicPr>
        <p:blipFill>
          <a:blip r:embed="rId4"/>
          <a:stretch>
            <a:fillRect/>
          </a:stretch>
        </p:blipFill>
        <p:spPr>
          <a:xfrm>
            <a:off x="6331787" y="6059704"/>
            <a:ext cx="259708" cy="259708"/>
          </a:xfrm>
          <a:prstGeom prst="rect">
            <a:avLst/>
          </a:prstGeom>
        </p:spPr>
      </p:pic>
      <p:sp>
        <p:nvSpPr>
          <p:cNvPr id="7" name="Text 3"/>
          <p:cNvSpPr/>
          <p:nvPr/>
        </p:nvSpPr>
        <p:spPr>
          <a:xfrm>
            <a:off x="6667917" y="6050876"/>
            <a:ext cx="1795859" cy="1476197"/>
          </a:xfrm>
          <a:prstGeom prst="rect">
            <a:avLst/>
          </a:prstGeom>
          <a:noFill/>
          <a:ln/>
        </p:spPr>
        <p:txBody>
          <a:bodyPr wrap="none" lIns="0" tIns="0" rIns="0" bIns="0" rtlCol="0" anchor="t"/>
          <a:lstStyle/>
          <a:p>
            <a:pPr marL="0" indent="0" algn="l">
              <a:lnSpc>
                <a:spcPts val="3100"/>
              </a:lnSpc>
              <a:buNone/>
            </a:pPr>
            <a:r>
              <a:rPr lang="en-US" sz="2200" b="1" dirty="0">
                <a:solidFill>
                  <a:srgbClr val="CFCBBF"/>
                </a:solidFill>
                <a:latin typeface="Raleway Bold" pitchFamily="34" charset="0"/>
                <a:ea typeface="Raleway Bold" pitchFamily="34" charset="-122"/>
                <a:cs typeface="Raleway Bold" pitchFamily="34" charset="-120"/>
              </a:rPr>
              <a:t>by </a:t>
            </a:r>
            <a:r>
              <a:rPr lang="en-US" sz="2200" b="1" dirty="0" err="1">
                <a:solidFill>
                  <a:srgbClr val="CFCBBF"/>
                </a:solidFill>
                <a:latin typeface="Raleway Bold" pitchFamily="34" charset="0"/>
                <a:ea typeface="Raleway Bold" pitchFamily="34" charset="-122"/>
                <a:cs typeface="Raleway Bold" pitchFamily="34" charset="-120"/>
              </a:rPr>
              <a:t>Manoj,suprit,somesh,sowyamraj</a:t>
            </a:r>
            <a:endParaRPr lang="en-US" sz="2200" dirty="0"/>
          </a:p>
        </p:txBody>
      </p:sp>
      <p:sp>
        <p:nvSpPr>
          <p:cNvPr id="9" name="TextBox 8">
            <a:extLst>
              <a:ext uri="{FF2B5EF4-FFF2-40B4-BE49-F238E27FC236}">
                <a16:creationId xmlns:a16="http://schemas.microsoft.com/office/drawing/2014/main" id="{6583007E-8E7B-1A45-52CE-7AFBBEF9BB30}"/>
              </a:ext>
            </a:extLst>
          </p:cNvPr>
          <p:cNvSpPr txBox="1"/>
          <p:nvPr/>
        </p:nvSpPr>
        <p:spPr>
          <a:xfrm>
            <a:off x="1327071" y="3238738"/>
            <a:ext cx="7315050" cy="369332"/>
          </a:xfrm>
          <a:prstGeom prst="rect">
            <a:avLst/>
          </a:prstGeom>
          <a:noFill/>
        </p:spPr>
        <p:txBody>
          <a:bodyPr wrap="square">
            <a:spAutoFit/>
          </a:bodyPr>
          <a:lstStyle/>
          <a:p>
            <a:r>
              <a:rPr lang="en-GB" dirty="0"/>
              <a:t>Gender Inequality </a:t>
            </a:r>
            <a:r>
              <a:rPr lang="en-GB" dirty="0" err="1"/>
              <a:t>pt</a:t>
            </a:r>
            <a:r>
              <a:rPr lang="en-GB" dirty="0"/>
              <a:t> outline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41158"/>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Understanding the Gender Inequality Index (GII)</a:t>
            </a:r>
            <a:endParaRPr lang="en-US" sz="4450" dirty="0"/>
          </a:p>
        </p:txBody>
      </p:sp>
      <p:sp>
        <p:nvSpPr>
          <p:cNvPr id="3" name="Text 1"/>
          <p:cNvSpPr/>
          <p:nvPr/>
        </p:nvSpPr>
        <p:spPr>
          <a:xfrm>
            <a:off x="793790" y="3625691"/>
            <a:ext cx="2906316"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Measuring Inequality</a:t>
            </a:r>
            <a:endParaRPr lang="en-US" sz="2200" dirty="0"/>
          </a:p>
        </p:txBody>
      </p:sp>
      <p:sp>
        <p:nvSpPr>
          <p:cNvPr id="4" name="Text 2"/>
          <p:cNvSpPr/>
          <p:nvPr/>
        </p:nvSpPr>
        <p:spPr>
          <a:xfrm>
            <a:off x="793790" y="4206835"/>
            <a:ext cx="6244709" cy="2177415"/>
          </a:xfrm>
          <a:prstGeom prst="rect">
            <a:avLst/>
          </a:prstGeom>
          <a:noFill/>
          <a:ln/>
        </p:spPr>
        <p:txBody>
          <a:bodyPr wrap="square" lIns="0" tIns="0" rIns="0" bIns="0" rtlCol="0" anchor="t"/>
          <a:lstStyle/>
          <a:p>
            <a:pPr marL="0" indent="0">
              <a:lnSpc>
                <a:spcPts val="2850"/>
              </a:lnSpc>
              <a:buNone/>
            </a:pPr>
            <a:r>
              <a:rPr lang="en-US" sz="1750" dirty="0">
                <a:solidFill>
                  <a:schemeClr val="bg1">
                    <a:lumMod val="95000"/>
                  </a:schemeClr>
                </a:solidFill>
              </a:rPr>
              <a:t>The Gender Inequality Index (GII) assesses gender inequality along three dimensions: reproductive health, empowerment, and labor market participation. It provides a comprehensive indication of the relative status of women and men in a particular society. The GII ranges between 0 (with complete equality) and 1 (with complete inequality).</a:t>
            </a:r>
          </a:p>
        </p:txBody>
      </p:sp>
      <p:sp>
        <p:nvSpPr>
          <p:cNvPr id="5" name="Text 3"/>
          <p:cNvSpPr/>
          <p:nvPr/>
        </p:nvSpPr>
        <p:spPr>
          <a:xfrm>
            <a:off x="7599521" y="362569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F2E782"/>
                </a:solidFill>
                <a:latin typeface="Prata" pitchFamily="34" charset="0"/>
                <a:ea typeface="Prata" pitchFamily="34" charset="-122"/>
                <a:cs typeface="Prata" pitchFamily="34" charset="-120"/>
              </a:rPr>
              <a:t>Global Context</a:t>
            </a:r>
            <a:endParaRPr lang="en-US" sz="2200" dirty="0"/>
          </a:p>
        </p:txBody>
      </p:sp>
      <p:sp>
        <p:nvSpPr>
          <p:cNvPr id="6" name="Text 4"/>
          <p:cNvSpPr/>
          <p:nvPr/>
        </p:nvSpPr>
        <p:spPr>
          <a:xfrm>
            <a:off x="7599521" y="4206835"/>
            <a:ext cx="6244709" cy="1814513"/>
          </a:xfrm>
          <a:prstGeom prst="rect">
            <a:avLst/>
          </a:prstGeom>
          <a:noFill/>
          <a:ln/>
        </p:spPr>
        <p:txBody>
          <a:bodyPr wrap="square" lIns="0" tIns="0" rIns="0" bIns="0" rtlCol="0" anchor="t"/>
          <a:lstStyle/>
          <a:p>
            <a:pPr marL="0" indent="0">
              <a:lnSpc>
                <a:spcPts val="2850"/>
              </a:lnSpc>
              <a:buNone/>
            </a:pPr>
            <a:r>
              <a:rPr lang="en-US" sz="1750" dirty="0">
                <a:solidFill>
                  <a:schemeClr val="bg1">
                    <a:lumMod val="95000"/>
                  </a:schemeClr>
                </a:solidFill>
              </a:rPr>
              <a:t>Ending gender inequality has certainly made some advance; however, considerable differences remain worldwide. Prompted by the GII to target interferences and policy changes so as to stimulate gender equality.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27377"/>
          </a:xfrm>
          <a:prstGeom prst="rect">
            <a:avLst/>
          </a:prstGeom>
        </p:spPr>
      </p:pic>
      <p:sp>
        <p:nvSpPr>
          <p:cNvPr id="3" name="Text 0"/>
          <p:cNvSpPr/>
          <p:nvPr/>
        </p:nvSpPr>
        <p:spPr>
          <a:xfrm>
            <a:off x="791647" y="3449360"/>
            <a:ext cx="12645271" cy="706874"/>
          </a:xfrm>
          <a:prstGeom prst="rect">
            <a:avLst/>
          </a:prstGeom>
          <a:noFill/>
          <a:ln/>
        </p:spPr>
        <p:txBody>
          <a:bodyPr wrap="none" lIns="0" tIns="0" rIns="0" bIns="0" rtlCol="0" anchor="t"/>
          <a:lstStyle/>
          <a:p>
            <a:pPr marL="0" indent="0">
              <a:lnSpc>
                <a:spcPts val="5550"/>
              </a:lnSpc>
              <a:buNone/>
            </a:pPr>
            <a:r>
              <a:rPr lang="en-US" sz="4450" dirty="0">
                <a:solidFill>
                  <a:srgbClr val="F2E782"/>
                </a:solidFill>
                <a:latin typeface="Prata" pitchFamily="34" charset="0"/>
                <a:ea typeface="Prata" pitchFamily="34" charset="-122"/>
                <a:cs typeface="Prata" pitchFamily="34" charset="-120"/>
              </a:rPr>
              <a:t>Disparities in Education and Health Outcomes</a:t>
            </a:r>
            <a:endParaRPr lang="en-US" sz="4450" dirty="0"/>
          </a:p>
        </p:txBody>
      </p:sp>
      <p:sp>
        <p:nvSpPr>
          <p:cNvPr id="4" name="Shape 1"/>
          <p:cNvSpPr/>
          <p:nvPr/>
        </p:nvSpPr>
        <p:spPr>
          <a:xfrm>
            <a:off x="791647" y="4495443"/>
            <a:ext cx="6410563" cy="3112889"/>
          </a:xfrm>
          <a:prstGeom prst="roundRect">
            <a:avLst>
              <a:gd name="adj" fmla="val 1090"/>
            </a:avLst>
          </a:prstGeom>
          <a:solidFill>
            <a:srgbClr val="3A3B3C"/>
          </a:solidFill>
          <a:ln/>
        </p:spPr>
      </p:sp>
      <p:sp>
        <p:nvSpPr>
          <p:cNvPr id="5" name="Text 2"/>
          <p:cNvSpPr/>
          <p:nvPr/>
        </p:nvSpPr>
        <p:spPr>
          <a:xfrm>
            <a:off x="1017746" y="4721542"/>
            <a:ext cx="2827377" cy="353378"/>
          </a:xfrm>
          <a:prstGeom prst="rect">
            <a:avLst/>
          </a:prstGeom>
          <a:noFill/>
          <a:ln/>
        </p:spPr>
        <p:txBody>
          <a:bodyPr wrap="none" lIns="0" tIns="0" rIns="0" bIns="0" rtlCol="0" anchor="t"/>
          <a:lstStyle/>
          <a:p>
            <a:pPr marL="0" indent="0">
              <a:lnSpc>
                <a:spcPts val="2750"/>
              </a:lnSpc>
              <a:buNone/>
            </a:pPr>
            <a:r>
              <a:rPr lang="en-US" sz="2200" dirty="0">
                <a:solidFill>
                  <a:srgbClr val="CFCBBF"/>
                </a:solidFill>
                <a:latin typeface="Prata" pitchFamily="34" charset="0"/>
                <a:ea typeface="Prata" pitchFamily="34" charset="-122"/>
                <a:cs typeface="Prata" pitchFamily="34" charset="-120"/>
              </a:rPr>
              <a:t>Education Gaps</a:t>
            </a:r>
            <a:endParaRPr lang="en-US" sz="2200" dirty="0"/>
          </a:p>
        </p:txBody>
      </p:sp>
      <p:sp>
        <p:nvSpPr>
          <p:cNvPr id="6" name="Text 3"/>
          <p:cNvSpPr/>
          <p:nvPr/>
        </p:nvSpPr>
        <p:spPr>
          <a:xfrm>
            <a:off x="1017746" y="5210532"/>
            <a:ext cx="5958364" cy="1809750"/>
          </a:xfrm>
          <a:prstGeom prst="rect">
            <a:avLst/>
          </a:prstGeom>
          <a:noFill/>
          <a:ln/>
        </p:spPr>
        <p:txBody>
          <a:bodyPr wrap="square" lIns="0" tIns="0" rIns="0" bIns="0" rtlCol="0" anchor="t"/>
          <a:lstStyle/>
          <a:p>
            <a:pPr marL="0" indent="0">
              <a:lnSpc>
                <a:spcPts val="2800"/>
              </a:lnSpc>
              <a:buNone/>
            </a:pPr>
            <a:r>
              <a:rPr lang="en-US" sz="1600" b="0" i="0" dirty="0">
                <a:solidFill>
                  <a:srgbClr val="FFFF00"/>
                </a:solidFill>
                <a:effectLst/>
                <a:latin typeface="Open Sans" panose="020F0502020204030204" pitchFamily="34" charset="0"/>
              </a:rPr>
              <a:t>There is still a gap in the gender gap in education. Girls and women face some obstacles such as fewer opportunities for school, violence, and other cultural aspects that focus more on the boys. Such inequalities will have effects on future income generation and well-being</a:t>
            </a:r>
            <a:endParaRPr lang="en-US" sz="1750" dirty="0">
              <a:solidFill>
                <a:srgbClr val="FFFF00"/>
              </a:solidFill>
            </a:endParaRPr>
          </a:p>
        </p:txBody>
      </p:sp>
      <p:sp>
        <p:nvSpPr>
          <p:cNvPr id="7" name="Shape 4"/>
          <p:cNvSpPr/>
          <p:nvPr/>
        </p:nvSpPr>
        <p:spPr>
          <a:xfrm>
            <a:off x="7428309" y="4495443"/>
            <a:ext cx="6410563" cy="3112889"/>
          </a:xfrm>
          <a:prstGeom prst="roundRect">
            <a:avLst>
              <a:gd name="adj" fmla="val 1090"/>
            </a:avLst>
          </a:prstGeom>
          <a:solidFill>
            <a:srgbClr val="3A3B3C"/>
          </a:solidFill>
          <a:ln/>
        </p:spPr>
      </p:sp>
      <p:sp>
        <p:nvSpPr>
          <p:cNvPr id="8" name="Text 5"/>
          <p:cNvSpPr/>
          <p:nvPr/>
        </p:nvSpPr>
        <p:spPr>
          <a:xfrm>
            <a:off x="7654409" y="4721542"/>
            <a:ext cx="2827377" cy="353378"/>
          </a:xfrm>
          <a:prstGeom prst="rect">
            <a:avLst/>
          </a:prstGeom>
          <a:noFill/>
          <a:ln/>
        </p:spPr>
        <p:txBody>
          <a:bodyPr wrap="none" lIns="0" tIns="0" rIns="0" bIns="0" rtlCol="0" anchor="t"/>
          <a:lstStyle/>
          <a:p>
            <a:pPr marL="0" indent="0">
              <a:lnSpc>
                <a:spcPts val="2750"/>
              </a:lnSpc>
              <a:buNone/>
            </a:pPr>
            <a:r>
              <a:rPr lang="en-US" sz="2200" dirty="0">
                <a:solidFill>
                  <a:srgbClr val="CFCBBF"/>
                </a:solidFill>
                <a:latin typeface="Prata" pitchFamily="34" charset="0"/>
                <a:ea typeface="Prata" pitchFamily="34" charset="-122"/>
                <a:cs typeface="Prata" pitchFamily="34" charset="-120"/>
              </a:rPr>
              <a:t>Health Disparities</a:t>
            </a:r>
            <a:endParaRPr lang="en-US" sz="2200" dirty="0"/>
          </a:p>
        </p:txBody>
      </p:sp>
      <p:sp>
        <p:nvSpPr>
          <p:cNvPr id="9" name="Text 6"/>
          <p:cNvSpPr/>
          <p:nvPr/>
        </p:nvSpPr>
        <p:spPr>
          <a:xfrm>
            <a:off x="7654409" y="5210532"/>
            <a:ext cx="5958364" cy="2171700"/>
          </a:xfrm>
          <a:prstGeom prst="rect">
            <a:avLst/>
          </a:prstGeom>
          <a:noFill/>
          <a:ln/>
        </p:spPr>
        <p:txBody>
          <a:bodyPr wrap="square" lIns="0" tIns="0" rIns="0" bIns="0" rtlCol="0" anchor="t"/>
          <a:lstStyle/>
          <a:p>
            <a:pPr marL="0" indent="0">
              <a:lnSpc>
                <a:spcPts val="2800"/>
              </a:lnSpc>
              <a:buNone/>
            </a:pPr>
            <a:r>
              <a:rPr lang="en-US" sz="1600" b="0" i="0" dirty="0">
                <a:solidFill>
                  <a:srgbClr val="FFFF00"/>
                </a:solidFill>
                <a:effectLst/>
                <a:latin typeface="Open Sans" panose="020B0606030504020204" pitchFamily="34" charset="0"/>
              </a:rPr>
              <a:t>Women experience poorer health outcomes than men. Such factors as a lesser access to health care, maternal mortality, and gender-based violence contribute to the disparities. Investing in women's health and empowerment is the need of the hour to address such issues</a:t>
            </a:r>
            <a:r>
              <a:rPr lang="en-US" sz="1600" b="0" i="0" dirty="0">
                <a:effectLst/>
                <a:latin typeface="Open Sans" panose="020B0606030504020204" pitchFamily="34" charset="0"/>
              </a:rPr>
              <a: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82665" y="735449"/>
            <a:ext cx="7951470" cy="1064895"/>
          </a:xfrm>
          <a:prstGeom prst="rect">
            <a:avLst/>
          </a:prstGeom>
          <a:noFill/>
          <a:ln/>
        </p:spPr>
        <p:txBody>
          <a:bodyPr wrap="square" lIns="0" tIns="0" rIns="0" bIns="0" rtlCol="0" anchor="t"/>
          <a:lstStyle/>
          <a:p>
            <a:pPr marL="0" indent="0">
              <a:lnSpc>
                <a:spcPts val="4150"/>
              </a:lnSpc>
              <a:buNone/>
            </a:pPr>
            <a:r>
              <a:rPr lang="en-US" sz="3350" dirty="0">
                <a:solidFill>
                  <a:srgbClr val="F2E782"/>
                </a:solidFill>
                <a:latin typeface="Prata" pitchFamily="34" charset="0"/>
                <a:ea typeface="Prata" pitchFamily="34" charset="-122"/>
                <a:cs typeface="Prata" pitchFamily="34" charset="-120"/>
              </a:rPr>
              <a:t>The Impact of Gender Discrimination on Opportunities</a:t>
            </a:r>
            <a:endParaRPr lang="en-US" sz="3350" dirty="0"/>
          </a:p>
        </p:txBody>
      </p:sp>
      <p:pic>
        <p:nvPicPr>
          <p:cNvPr id="4" name="Image 1" descr="preencoded.png"/>
          <p:cNvPicPr>
            <a:picLocks noChangeAspect="1"/>
          </p:cNvPicPr>
          <p:nvPr/>
        </p:nvPicPr>
        <p:blipFill>
          <a:blip r:embed="rId4"/>
          <a:stretch>
            <a:fillRect/>
          </a:stretch>
        </p:blipFill>
        <p:spPr>
          <a:xfrm>
            <a:off x="6082665" y="2055852"/>
            <a:ext cx="425887" cy="425887"/>
          </a:xfrm>
          <a:prstGeom prst="rect">
            <a:avLst/>
          </a:prstGeom>
        </p:spPr>
      </p:pic>
      <p:sp>
        <p:nvSpPr>
          <p:cNvPr id="5" name="Text 1"/>
          <p:cNvSpPr/>
          <p:nvPr/>
        </p:nvSpPr>
        <p:spPr>
          <a:xfrm>
            <a:off x="6082665" y="2652117"/>
            <a:ext cx="2129909" cy="266224"/>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Economic Inequality</a:t>
            </a:r>
            <a:endParaRPr lang="en-US" sz="1650" dirty="0"/>
          </a:p>
        </p:txBody>
      </p:sp>
      <p:sp>
        <p:nvSpPr>
          <p:cNvPr id="6" name="Text 2"/>
          <p:cNvSpPr/>
          <p:nvPr/>
        </p:nvSpPr>
        <p:spPr>
          <a:xfrm>
            <a:off x="6082665" y="3020497"/>
            <a:ext cx="3847981" cy="1635204"/>
          </a:xfrm>
          <a:prstGeom prst="rect">
            <a:avLst/>
          </a:prstGeom>
          <a:noFill/>
          <a:ln/>
        </p:spPr>
        <p:txBody>
          <a:bodyPr wrap="square" lIns="0" tIns="0" rIns="0" bIns="0" rtlCol="0" anchor="t"/>
          <a:lstStyle/>
          <a:p>
            <a:pPr marL="0" indent="0" algn="l">
              <a:lnSpc>
                <a:spcPts val="2100"/>
              </a:lnSpc>
              <a:buNone/>
            </a:pPr>
            <a:r>
              <a:rPr lang="en-US" sz="1400" b="0" i="0" dirty="0">
                <a:effectLst/>
                <a:latin typeface="Open Sans" panose="020B0606030504020204" pitchFamily="34" charset="0"/>
              </a:rPr>
              <a:t>t </a:t>
            </a:r>
            <a:r>
              <a:rPr lang="en-US" sz="1400" b="0" i="0" dirty="0">
                <a:solidFill>
                  <a:srgbClr val="FFC000"/>
                </a:solidFill>
                <a:effectLst/>
                <a:latin typeface="Open Sans" panose="020B0606030504020204" pitchFamily="34" charset="0"/>
              </a:rPr>
              <a:t>leads to less pay, fewer possibilities of growth, and underrepresentation in leadership roles. This thus impacts economic independence, leading to the gender wage gap.</a:t>
            </a:r>
            <a:endParaRPr lang="en-US" sz="1300" dirty="0">
              <a:solidFill>
                <a:srgbClr val="FFC000"/>
              </a:solidFill>
            </a:endParaRPr>
          </a:p>
        </p:txBody>
      </p:sp>
      <p:pic>
        <p:nvPicPr>
          <p:cNvPr id="7" name="Image 2" descr="preencoded.png"/>
          <p:cNvPicPr>
            <a:picLocks noChangeAspect="1"/>
          </p:cNvPicPr>
          <p:nvPr/>
        </p:nvPicPr>
        <p:blipFill>
          <a:blip r:embed="rId4"/>
          <a:stretch>
            <a:fillRect/>
          </a:stretch>
        </p:blipFill>
        <p:spPr>
          <a:xfrm>
            <a:off x="10186154" y="2055852"/>
            <a:ext cx="425887" cy="425887"/>
          </a:xfrm>
          <a:prstGeom prst="rect">
            <a:avLst/>
          </a:prstGeom>
        </p:spPr>
      </p:pic>
      <p:sp>
        <p:nvSpPr>
          <p:cNvPr id="8" name="Text 3"/>
          <p:cNvSpPr/>
          <p:nvPr/>
        </p:nvSpPr>
        <p:spPr>
          <a:xfrm>
            <a:off x="10186154" y="2652117"/>
            <a:ext cx="3035975" cy="266224"/>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Political Underrepresentation</a:t>
            </a:r>
            <a:endParaRPr lang="en-US" sz="1650" dirty="0"/>
          </a:p>
        </p:txBody>
      </p:sp>
      <p:sp>
        <p:nvSpPr>
          <p:cNvPr id="9" name="Text 4"/>
          <p:cNvSpPr/>
          <p:nvPr/>
        </p:nvSpPr>
        <p:spPr>
          <a:xfrm>
            <a:off x="10186154" y="3020497"/>
            <a:ext cx="3847981" cy="1362670"/>
          </a:xfrm>
          <a:prstGeom prst="rect">
            <a:avLst/>
          </a:prstGeom>
          <a:noFill/>
          <a:ln/>
        </p:spPr>
        <p:txBody>
          <a:bodyPr wrap="square" lIns="0" tIns="0" rIns="0" bIns="0" rtlCol="0" anchor="t"/>
          <a:lstStyle/>
          <a:p>
            <a:pPr marL="0" indent="0" algn="l">
              <a:lnSpc>
                <a:spcPts val="2100"/>
              </a:lnSpc>
              <a:buNone/>
            </a:pPr>
            <a:r>
              <a:rPr lang="en-US" sz="1400" b="0" i="0" dirty="0">
                <a:solidFill>
                  <a:srgbClr val="FFC000"/>
                </a:solidFill>
                <a:effectLst/>
                <a:latin typeface="Open Sans" panose="020B0606030504020204" pitchFamily="34" charset="0"/>
              </a:rPr>
              <a:t>Women are underrepresented in political decision-making bodies, limiting their influence on policies that affect their lives. Addressing this requires promoting women's participation in politics and ensuring their voices are heard.</a:t>
            </a:r>
            <a:endParaRPr lang="en-US" sz="1300" dirty="0">
              <a:solidFill>
                <a:srgbClr val="FFC000"/>
              </a:solidFill>
            </a:endParaRPr>
          </a:p>
        </p:txBody>
      </p:sp>
      <p:pic>
        <p:nvPicPr>
          <p:cNvPr id="10" name="Image 3" descr="preencoded.png"/>
          <p:cNvPicPr>
            <a:picLocks noChangeAspect="1"/>
          </p:cNvPicPr>
          <p:nvPr/>
        </p:nvPicPr>
        <p:blipFill>
          <a:blip r:embed="rId4"/>
          <a:stretch>
            <a:fillRect/>
          </a:stretch>
        </p:blipFill>
        <p:spPr>
          <a:xfrm>
            <a:off x="6082665" y="5166836"/>
            <a:ext cx="425887" cy="425887"/>
          </a:xfrm>
          <a:prstGeom prst="rect">
            <a:avLst/>
          </a:prstGeom>
        </p:spPr>
      </p:pic>
      <p:sp>
        <p:nvSpPr>
          <p:cNvPr id="11" name="Text 5"/>
          <p:cNvSpPr/>
          <p:nvPr/>
        </p:nvSpPr>
        <p:spPr>
          <a:xfrm>
            <a:off x="6082665" y="5763101"/>
            <a:ext cx="2129909" cy="266224"/>
          </a:xfrm>
          <a:prstGeom prst="rect">
            <a:avLst/>
          </a:prstGeom>
          <a:noFill/>
          <a:ln/>
        </p:spPr>
        <p:txBody>
          <a:bodyPr wrap="none" lIns="0" tIns="0" rIns="0" bIns="0" rtlCol="0" anchor="t"/>
          <a:lstStyle/>
          <a:p>
            <a:pPr marL="0" indent="0" algn="l">
              <a:lnSpc>
                <a:spcPts val="2050"/>
              </a:lnSpc>
              <a:buNone/>
            </a:pPr>
            <a:r>
              <a:rPr lang="en-US" sz="1650" dirty="0">
                <a:solidFill>
                  <a:srgbClr val="CFCBBF"/>
                </a:solidFill>
                <a:latin typeface="Prata" pitchFamily="34" charset="0"/>
                <a:ea typeface="Prata" pitchFamily="34" charset="-122"/>
                <a:cs typeface="Prata" pitchFamily="34" charset="-120"/>
              </a:rPr>
              <a:t>Social Exclusion</a:t>
            </a:r>
            <a:endParaRPr lang="en-US" sz="1650" dirty="0"/>
          </a:p>
        </p:txBody>
      </p:sp>
      <p:sp>
        <p:nvSpPr>
          <p:cNvPr id="12" name="Text 6"/>
          <p:cNvSpPr/>
          <p:nvPr/>
        </p:nvSpPr>
        <p:spPr>
          <a:xfrm>
            <a:off x="6082665" y="6131481"/>
            <a:ext cx="3847981" cy="1362670"/>
          </a:xfrm>
          <a:prstGeom prst="rect">
            <a:avLst/>
          </a:prstGeom>
          <a:noFill/>
          <a:ln/>
        </p:spPr>
        <p:txBody>
          <a:bodyPr wrap="square" lIns="0" tIns="0" rIns="0" bIns="0" rtlCol="0" anchor="t"/>
          <a:lstStyle/>
          <a:p>
            <a:pPr marL="0" indent="0" algn="l">
              <a:lnSpc>
                <a:spcPts val="2100"/>
              </a:lnSpc>
              <a:buNone/>
            </a:pPr>
            <a:r>
              <a:rPr lang="en-US" sz="1300" dirty="0">
                <a:solidFill>
                  <a:srgbClr val="FFC000"/>
                </a:solidFill>
                <a:latin typeface="Raleway" pitchFamily="34" charset="0"/>
                <a:ea typeface="Raleway" pitchFamily="34" charset="-122"/>
                <a:cs typeface="Raleway" pitchFamily="34" charset="-120"/>
              </a:rPr>
              <a:t>Gender stereotypes and social norms can limit women's participation in social and economic activities, hindering their opportunities and potential. Challenging these norms is crucial for promoting inclusion and equality.</a:t>
            </a:r>
            <a:endParaRPr lang="en-US" sz="1300" dirty="0">
              <a:solidFill>
                <a:srgbClr val="FFC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3482697" y="522148"/>
            <a:ext cx="6486168" cy="609005"/>
          </a:xfrm>
          <a:prstGeom prst="rect">
            <a:avLst/>
          </a:prstGeom>
          <a:noFill/>
          <a:ln/>
        </p:spPr>
        <p:txBody>
          <a:bodyPr wrap="none" lIns="0" tIns="0" rIns="0" bIns="0" rtlCol="0" anchor="t"/>
          <a:lstStyle/>
          <a:p>
            <a:pPr marL="0" indent="0">
              <a:lnSpc>
                <a:spcPts val="4750"/>
              </a:lnSpc>
              <a:buNone/>
            </a:pPr>
            <a:r>
              <a:rPr lang="en-US" sz="3800" dirty="0">
                <a:solidFill>
                  <a:srgbClr val="F2E782"/>
                </a:solidFill>
                <a:latin typeface="Prata" pitchFamily="34" charset="0"/>
                <a:ea typeface="Prata" pitchFamily="34" charset="-122"/>
                <a:cs typeface="Prata" pitchFamily="34" charset="-120"/>
              </a:rPr>
              <a:t>Forms of Gender Inequality</a:t>
            </a:r>
            <a:endParaRPr lang="en-US" sz="3800" dirty="0"/>
          </a:p>
        </p:txBody>
      </p:sp>
      <p:sp>
        <p:nvSpPr>
          <p:cNvPr id="4" name="Shape 1"/>
          <p:cNvSpPr/>
          <p:nvPr/>
        </p:nvSpPr>
        <p:spPr>
          <a:xfrm>
            <a:off x="6449378" y="1439228"/>
            <a:ext cx="22860" cy="6252448"/>
          </a:xfrm>
          <a:prstGeom prst="roundRect">
            <a:avLst>
              <a:gd name="adj" fmla="val 127885"/>
            </a:avLst>
          </a:prstGeom>
          <a:solidFill>
            <a:srgbClr val="535455"/>
          </a:solidFill>
          <a:ln/>
        </p:spPr>
      </p:sp>
      <p:sp>
        <p:nvSpPr>
          <p:cNvPr id="5" name="Shape 2"/>
          <p:cNvSpPr/>
          <p:nvPr/>
        </p:nvSpPr>
        <p:spPr>
          <a:xfrm>
            <a:off x="6657201" y="1866186"/>
            <a:ext cx="682109" cy="22860"/>
          </a:xfrm>
          <a:prstGeom prst="roundRect">
            <a:avLst>
              <a:gd name="adj" fmla="val 127885"/>
            </a:avLst>
          </a:prstGeom>
          <a:solidFill>
            <a:srgbClr val="535455"/>
          </a:solidFill>
          <a:ln/>
        </p:spPr>
      </p:sp>
      <p:sp>
        <p:nvSpPr>
          <p:cNvPr id="6" name="Shape 3"/>
          <p:cNvSpPr/>
          <p:nvPr/>
        </p:nvSpPr>
        <p:spPr>
          <a:xfrm>
            <a:off x="6241554" y="1658422"/>
            <a:ext cx="438507" cy="438507"/>
          </a:xfrm>
          <a:prstGeom prst="roundRect">
            <a:avLst>
              <a:gd name="adj" fmla="val 6667"/>
            </a:avLst>
          </a:prstGeom>
          <a:solidFill>
            <a:srgbClr val="3A3B3C"/>
          </a:solidFill>
          <a:ln/>
        </p:spPr>
      </p:sp>
      <p:sp>
        <p:nvSpPr>
          <p:cNvPr id="7" name="Text 4"/>
          <p:cNvSpPr/>
          <p:nvPr/>
        </p:nvSpPr>
        <p:spPr>
          <a:xfrm>
            <a:off x="6410385" y="1731526"/>
            <a:ext cx="100846" cy="292298"/>
          </a:xfrm>
          <a:prstGeom prst="rect">
            <a:avLst/>
          </a:prstGeom>
          <a:noFill/>
          <a:ln/>
        </p:spPr>
        <p:txBody>
          <a:bodyPr wrap="none" lIns="0" tIns="0" rIns="0" bIns="0" rtlCol="0" anchor="t"/>
          <a:lstStyle/>
          <a:p>
            <a:pPr marL="0" indent="0" algn="ctr">
              <a:lnSpc>
                <a:spcPts val="2300"/>
              </a:lnSpc>
              <a:buNone/>
            </a:pPr>
            <a:r>
              <a:rPr lang="en-US" sz="2300" dirty="0">
                <a:solidFill>
                  <a:srgbClr val="CFCBBF"/>
                </a:solidFill>
                <a:latin typeface="Prata" pitchFamily="34" charset="0"/>
                <a:ea typeface="Prata" pitchFamily="34" charset="-122"/>
                <a:cs typeface="Prata" pitchFamily="34" charset="-120"/>
              </a:rPr>
              <a:t>1</a:t>
            </a:r>
            <a:endParaRPr lang="en-US" sz="2300" dirty="0"/>
          </a:p>
        </p:txBody>
      </p:sp>
      <p:sp>
        <p:nvSpPr>
          <p:cNvPr id="8" name="Text 5"/>
          <p:cNvSpPr/>
          <p:nvPr/>
        </p:nvSpPr>
        <p:spPr>
          <a:xfrm>
            <a:off x="7532727" y="1634014"/>
            <a:ext cx="2773918" cy="304443"/>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Gender-Based Violence</a:t>
            </a:r>
            <a:endParaRPr lang="en-US" sz="1900" dirty="0"/>
          </a:p>
        </p:txBody>
      </p:sp>
      <p:sp>
        <p:nvSpPr>
          <p:cNvPr id="9" name="Text 6"/>
          <p:cNvSpPr/>
          <p:nvPr/>
        </p:nvSpPr>
        <p:spPr>
          <a:xfrm>
            <a:off x="7532727" y="2055376"/>
            <a:ext cx="6415564" cy="1247299"/>
          </a:xfrm>
          <a:prstGeom prst="rect">
            <a:avLst/>
          </a:prstGeom>
          <a:noFill/>
          <a:ln/>
        </p:spPr>
        <p:txBody>
          <a:bodyPr wrap="square" lIns="0" tIns="0" rIns="0" bIns="0" rtlCol="0" anchor="t"/>
          <a:lstStyle/>
          <a:p>
            <a:pPr marL="0" indent="0" algn="l">
              <a:lnSpc>
                <a:spcPts val="2450"/>
              </a:lnSpc>
              <a:buNone/>
            </a:pPr>
            <a:r>
              <a:rPr lang="en-US" sz="1500" dirty="0">
                <a:solidFill>
                  <a:srgbClr val="CFCBBF"/>
                </a:solidFill>
                <a:latin typeface="Raleway" pitchFamily="34" charset="0"/>
                <a:ea typeface="Raleway" pitchFamily="34" charset="-122"/>
                <a:cs typeface="Raleway" pitchFamily="34" charset="-120"/>
              </a:rPr>
              <a:t>Violence against women and girls is a widespread problem, encompassing physical, sexual, and psychological abuse. It undermines women's safety, well-being, and ability to fully participate in society.</a:t>
            </a:r>
            <a:endParaRPr lang="en-US" sz="1500" dirty="0"/>
          </a:p>
        </p:txBody>
      </p:sp>
      <p:sp>
        <p:nvSpPr>
          <p:cNvPr id="10" name="Shape 7"/>
          <p:cNvSpPr/>
          <p:nvPr/>
        </p:nvSpPr>
        <p:spPr>
          <a:xfrm>
            <a:off x="6657201" y="4119205"/>
            <a:ext cx="682109" cy="22860"/>
          </a:xfrm>
          <a:prstGeom prst="roundRect">
            <a:avLst>
              <a:gd name="adj" fmla="val 127885"/>
            </a:avLst>
          </a:prstGeom>
          <a:solidFill>
            <a:srgbClr val="535455"/>
          </a:solidFill>
          <a:ln/>
        </p:spPr>
      </p:sp>
      <p:sp>
        <p:nvSpPr>
          <p:cNvPr id="11" name="Shape 8"/>
          <p:cNvSpPr/>
          <p:nvPr/>
        </p:nvSpPr>
        <p:spPr>
          <a:xfrm>
            <a:off x="6241554" y="3911441"/>
            <a:ext cx="438507" cy="438507"/>
          </a:xfrm>
          <a:prstGeom prst="roundRect">
            <a:avLst>
              <a:gd name="adj" fmla="val 6667"/>
            </a:avLst>
          </a:prstGeom>
          <a:solidFill>
            <a:srgbClr val="3A3B3C"/>
          </a:solidFill>
          <a:ln/>
        </p:spPr>
      </p:sp>
      <p:sp>
        <p:nvSpPr>
          <p:cNvPr id="12" name="Text 9"/>
          <p:cNvSpPr/>
          <p:nvPr/>
        </p:nvSpPr>
        <p:spPr>
          <a:xfrm>
            <a:off x="6371213" y="3984546"/>
            <a:ext cx="179189" cy="292298"/>
          </a:xfrm>
          <a:prstGeom prst="rect">
            <a:avLst/>
          </a:prstGeom>
          <a:noFill/>
          <a:ln/>
        </p:spPr>
        <p:txBody>
          <a:bodyPr wrap="none" lIns="0" tIns="0" rIns="0" bIns="0" rtlCol="0" anchor="t"/>
          <a:lstStyle/>
          <a:p>
            <a:pPr marL="0" indent="0" algn="ctr">
              <a:lnSpc>
                <a:spcPts val="2300"/>
              </a:lnSpc>
              <a:buNone/>
            </a:pPr>
            <a:r>
              <a:rPr lang="en-US" sz="2300" dirty="0">
                <a:solidFill>
                  <a:srgbClr val="CFCBBF"/>
                </a:solidFill>
                <a:latin typeface="Prata" pitchFamily="34" charset="0"/>
                <a:ea typeface="Prata" pitchFamily="34" charset="-122"/>
                <a:cs typeface="Prata" pitchFamily="34" charset="-120"/>
              </a:rPr>
              <a:t>2</a:t>
            </a:r>
            <a:endParaRPr lang="en-US" sz="2300" dirty="0"/>
          </a:p>
        </p:txBody>
      </p:sp>
      <p:sp>
        <p:nvSpPr>
          <p:cNvPr id="13" name="Text 10"/>
          <p:cNvSpPr/>
          <p:nvPr/>
        </p:nvSpPr>
        <p:spPr>
          <a:xfrm>
            <a:off x="7532727" y="3887033"/>
            <a:ext cx="3608784" cy="304443"/>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Discrimination in Employment</a:t>
            </a:r>
            <a:endParaRPr lang="en-US" sz="1900" dirty="0"/>
          </a:p>
        </p:txBody>
      </p:sp>
      <p:sp>
        <p:nvSpPr>
          <p:cNvPr id="14" name="Text 11"/>
          <p:cNvSpPr/>
          <p:nvPr/>
        </p:nvSpPr>
        <p:spPr>
          <a:xfrm>
            <a:off x="7532727" y="4308395"/>
            <a:ext cx="6415564" cy="1247299"/>
          </a:xfrm>
          <a:prstGeom prst="rect">
            <a:avLst/>
          </a:prstGeom>
          <a:noFill/>
          <a:ln/>
        </p:spPr>
        <p:txBody>
          <a:bodyPr wrap="square" lIns="0" tIns="0" rIns="0" bIns="0" rtlCol="0" anchor="t"/>
          <a:lstStyle/>
          <a:p>
            <a:pPr marL="0" indent="0" algn="l">
              <a:lnSpc>
                <a:spcPts val="2450"/>
              </a:lnSpc>
              <a:buNone/>
            </a:pPr>
            <a:r>
              <a:rPr lang="en-US" sz="1500" dirty="0">
                <a:solidFill>
                  <a:srgbClr val="CFCBBF"/>
                </a:solidFill>
                <a:latin typeface="Raleway" pitchFamily="34" charset="0"/>
                <a:ea typeface="Raleway" pitchFamily="34" charset="-122"/>
                <a:cs typeface="Raleway" pitchFamily="34" charset="-120"/>
              </a:rPr>
              <a:t>Women face discrimination in hiring, promotion, and pay. They often hold lower-paying jobs with limited opportunities for advancement. This contributes to the gender wage gap and perpetuates economic inequality.</a:t>
            </a:r>
            <a:endParaRPr lang="en-US" sz="1500" dirty="0"/>
          </a:p>
        </p:txBody>
      </p:sp>
      <p:sp>
        <p:nvSpPr>
          <p:cNvPr id="15" name="Shape 12"/>
          <p:cNvSpPr/>
          <p:nvPr/>
        </p:nvSpPr>
        <p:spPr>
          <a:xfrm>
            <a:off x="6657201" y="6372225"/>
            <a:ext cx="682109" cy="22860"/>
          </a:xfrm>
          <a:prstGeom prst="roundRect">
            <a:avLst>
              <a:gd name="adj" fmla="val 127885"/>
            </a:avLst>
          </a:prstGeom>
          <a:solidFill>
            <a:srgbClr val="535455"/>
          </a:solidFill>
          <a:ln/>
        </p:spPr>
      </p:sp>
      <p:sp>
        <p:nvSpPr>
          <p:cNvPr id="16" name="Shape 13"/>
          <p:cNvSpPr/>
          <p:nvPr/>
        </p:nvSpPr>
        <p:spPr>
          <a:xfrm>
            <a:off x="6241554" y="6164461"/>
            <a:ext cx="438507" cy="438507"/>
          </a:xfrm>
          <a:prstGeom prst="roundRect">
            <a:avLst>
              <a:gd name="adj" fmla="val 6667"/>
            </a:avLst>
          </a:prstGeom>
          <a:solidFill>
            <a:srgbClr val="3A3B3C"/>
          </a:solidFill>
          <a:ln/>
        </p:spPr>
      </p:sp>
      <p:sp>
        <p:nvSpPr>
          <p:cNvPr id="17" name="Text 14"/>
          <p:cNvSpPr/>
          <p:nvPr/>
        </p:nvSpPr>
        <p:spPr>
          <a:xfrm>
            <a:off x="6370141" y="6237565"/>
            <a:ext cx="181332" cy="292298"/>
          </a:xfrm>
          <a:prstGeom prst="rect">
            <a:avLst/>
          </a:prstGeom>
          <a:noFill/>
          <a:ln/>
        </p:spPr>
        <p:txBody>
          <a:bodyPr wrap="none" lIns="0" tIns="0" rIns="0" bIns="0" rtlCol="0" anchor="t"/>
          <a:lstStyle/>
          <a:p>
            <a:pPr marL="0" indent="0" algn="ctr">
              <a:lnSpc>
                <a:spcPts val="2300"/>
              </a:lnSpc>
              <a:buNone/>
            </a:pPr>
            <a:r>
              <a:rPr lang="en-US" sz="2300" dirty="0">
                <a:solidFill>
                  <a:srgbClr val="CFCBBF"/>
                </a:solidFill>
                <a:latin typeface="Prata" pitchFamily="34" charset="0"/>
                <a:ea typeface="Prata" pitchFamily="34" charset="-122"/>
                <a:cs typeface="Prata" pitchFamily="34" charset="-120"/>
              </a:rPr>
              <a:t>3</a:t>
            </a:r>
            <a:endParaRPr lang="en-US" sz="2300" dirty="0"/>
          </a:p>
        </p:txBody>
      </p:sp>
      <p:sp>
        <p:nvSpPr>
          <p:cNvPr id="18" name="Text 15"/>
          <p:cNvSpPr/>
          <p:nvPr/>
        </p:nvSpPr>
        <p:spPr>
          <a:xfrm>
            <a:off x="7532727" y="6140053"/>
            <a:ext cx="2436138" cy="304443"/>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Reproductive Health</a:t>
            </a:r>
            <a:endParaRPr lang="en-US" sz="1900" dirty="0"/>
          </a:p>
        </p:txBody>
      </p:sp>
      <p:sp>
        <p:nvSpPr>
          <p:cNvPr id="19" name="Text 16"/>
          <p:cNvSpPr/>
          <p:nvPr/>
        </p:nvSpPr>
        <p:spPr>
          <a:xfrm>
            <a:off x="7532727" y="6561415"/>
            <a:ext cx="6415564" cy="935474"/>
          </a:xfrm>
          <a:prstGeom prst="rect">
            <a:avLst/>
          </a:prstGeom>
          <a:noFill/>
          <a:ln/>
        </p:spPr>
        <p:txBody>
          <a:bodyPr wrap="square" lIns="0" tIns="0" rIns="0" bIns="0" rtlCol="0" anchor="t"/>
          <a:lstStyle/>
          <a:p>
            <a:pPr marL="0" indent="0" algn="l">
              <a:lnSpc>
                <a:spcPts val="2450"/>
              </a:lnSpc>
              <a:buNone/>
            </a:pPr>
            <a:r>
              <a:rPr lang="en-US" sz="1500" dirty="0">
                <a:solidFill>
                  <a:srgbClr val="CFCBBF"/>
                </a:solidFill>
                <a:latin typeface="Raleway" pitchFamily="34" charset="0"/>
                <a:ea typeface="Raleway" pitchFamily="34" charset="-122"/>
                <a:cs typeface="Raleway" pitchFamily="34" charset="-120"/>
              </a:rPr>
              <a:t>Unequal access to reproductive healthcare services limits women's control over their bodies and reproductive choices. This includes access to contraception, safe abortion, and maternal healthcare.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5680" y="531376"/>
            <a:ext cx="6577370" cy="603290"/>
          </a:xfrm>
          <a:prstGeom prst="rect">
            <a:avLst/>
          </a:prstGeom>
          <a:noFill/>
          <a:ln/>
        </p:spPr>
        <p:txBody>
          <a:bodyPr wrap="none" lIns="0" tIns="0" rIns="0" bIns="0" rtlCol="0" anchor="t"/>
          <a:lstStyle/>
          <a:p>
            <a:pPr marL="0" indent="0">
              <a:lnSpc>
                <a:spcPts val="4750"/>
              </a:lnSpc>
              <a:buNone/>
            </a:pPr>
            <a:r>
              <a:rPr lang="en-US" sz="3800" dirty="0">
                <a:solidFill>
                  <a:srgbClr val="F2E782"/>
                </a:solidFill>
                <a:latin typeface="Prata" pitchFamily="34" charset="0"/>
                <a:ea typeface="Prata" pitchFamily="34" charset="-122"/>
                <a:cs typeface="Prata" pitchFamily="34" charset="-120"/>
              </a:rPr>
              <a:t>Causes of Gender Inequality</a:t>
            </a:r>
            <a:endParaRPr lang="en-US" sz="3800" dirty="0"/>
          </a:p>
        </p:txBody>
      </p:sp>
      <p:pic>
        <p:nvPicPr>
          <p:cNvPr id="3" name="Image 0" descr="preencoded.png"/>
          <p:cNvPicPr>
            <a:picLocks noChangeAspect="1"/>
          </p:cNvPicPr>
          <p:nvPr/>
        </p:nvPicPr>
        <p:blipFill>
          <a:blip r:embed="rId3"/>
          <a:stretch>
            <a:fillRect/>
          </a:stretch>
        </p:blipFill>
        <p:spPr>
          <a:xfrm>
            <a:off x="675680" y="1520666"/>
            <a:ext cx="965240" cy="1544360"/>
          </a:xfrm>
          <a:prstGeom prst="rect">
            <a:avLst/>
          </a:prstGeom>
        </p:spPr>
      </p:pic>
      <p:sp>
        <p:nvSpPr>
          <p:cNvPr id="4" name="Text 1"/>
          <p:cNvSpPr/>
          <p:nvPr/>
        </p:nvSpPr>
        <p:spPr>
          <a:xfrm>
            <a:off x="1930479" y="1713667"/>
            <a:ext cx="2571036" cy="301585"/>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Patriarchal Structures</a:t>
            </a:r>
            <a:endParaRPr lang="en-US" sz="1900" dirty="0"/>
          </a:p>
        </p:txBody>
      </p:sp>
      <p:sp>
        <p:nvSpPr>
          <p:cNvPr id="5" name="Text 2"/>
          <p:cNvSpPr/>
          <p:nvPr/>
        </p:nvSpPr>
        <p:spPr>
          <a:xfrm>
            <a:off x="1930479" y="2130981"/>
            <a:ext cx="12024241" cy="617458"/>
          </a:xfrm>
          <a:prstGeom prst="rect">
            <a:avLst/>
          </a:prstGeom>
          <a:noFill/>
          <a:ln/>
        </p:spPr>
        <p:txBody>
          <a:bodyPr wrap="square" lIns="0" tIns="0" rIns="0" bIns="0" rtlCol="0" anchor="t"/>
          <a:lstStyle/>
          <a:p>
            <a:pPr marL="0" indent="0" algn="l">
              <a:lnSpc>
                <a:spcPts val="2400"/>
              </a:lnSpc>
              <a:buNone/>
            </a:pPr>
            <a:r>
              <a:rPr lang="en-US" sz="1500" dirty="0">
                <a:solidFill>
                  <a:srgbClr val="CFCBBF"/>
                </a:solidFill>
                <a:latin typeface="Raleway" pitchFamily="34" charset="0"/>
                <a:ea typeface="Raleway" pitchFamily="34" charset="-122"/>
                <a:cs typeface="Raleway" pitchFamily="34" charset="-120"/>
              </a:rPr>
              <a:t>Traditional patriarchal systems often reinforce gender roles and power dynamics, limiting women's opportunities and autonomy. These systems perpetuate inequalities in education, employment, and decision-making.</a:t>
            </a:r>
            <a:endParaRPr lang="en-US" sz="1500" dirty="0"/>
          </a:p>
        </p:txBody>
      </p:sp>
      <p:pic>
        <p:nvPicPr>
          <p:cNvPr id="6" name="Image 1" descr="preencoded.png"/>
          <p:cNvPicPr>
            <a:picLocks noChangeAspect="1"/>
          </p:cNvPicPr>
          <p:nvPr/>
        </p:nvPicPr>
        <p:blipFill>
          <a:blip r:embed="rId4"/>
          <a:stretch>
            <a:fillRect/>
          </a:stretch>
        </p:blipFill>
        <p:spPr>
          <a:xfrm>
            <a:off x="675680" y="3065026"/>
            <a:ext cx="965240" cy="1544360"/>
          </a:xfrm>
          <a:prstGeom prst="rect">
            <a:avLst/>
          </a:prstGeom>
        </p:spPr>
      </p:pic>
      <p:sp>
        <p:nvSpPr>
          <p:cNvPr id="7" name="Text 3"/>
          <p:cNvSpPr/>
          <p:nvPr/>
        </p:nvSpPr>
        <p:spPr>
          <a:xfrm>
            <a:off x="1930479" y="3258026"/>
            <a:ext cx="3137892" cy="301585"/>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Cultural Norms and Beliefs</a:t>
            </a:r>
            <a:endParaRPr lang="en-US" sz="1900" dirty="0"/>
          </a:p>
        </p:txBody>
      </p:sp>
      <p:sp>
        <p:nvSpPr>
          <p:cNvPr id="8" name="Text 4"/>
          <p:cNvSpPr/>
          <p:nvPr/>
        </p:nvSpPr>
        <p:spPr>
          <a:xfrm>
            <a:off x="1930479" y="3675340"/>
            <a:ext cx="12024241" cy="617458"/>
          </a:xfrm>
          <a:prstGeom prst="rect">
            <a:avLst/>
          </a:prstGeom>
          <a:noFill/>
          <a:ln/>
        </p:spPr>
        <p:txBody>
          <a:bodyPr wrap="square" lIns="0" tIns="0" rIns="0" bIns="0" rtlCol="0" anchor="t"/>
          <a:lstStyle/>
          <a:p>
            <a:pPr marL="0" indent="0" algn="l">
              <a:lnSpc>
                <a:spcPts val="2400"/>
              </a:lnSpc>
              <a:buNone/>
            </a:pPr>
            <a:r>
              <a:rPr lang="en-US" sz="1500" dirty="0">
                <a:solidFill>
                  <a:srgbClr val="CFCBBF"/>
                </a:solidFill>
                <a:latin typeface="Raleway" pitchFamily="34" charset="0"/>
                <a:ea typeface="Raleway" pitchFamily="34" charset="-122"/>
                <a:cs typeface="Raleway" pitchFamily="34" charset="-120"/>
              </a:rPr>
              <a:t>Deeply ingrained cultural norms and beliefs about gender can reinforce gender stereotypes and limit women's roles in society. These norms often restrict women's access to resources and opportunities.</a:t>
            </a:r>
            <a:endParaRPr lang="en-US" sz="1500" dirty="0"/>
          </a:p>
        </p:txBody>
      </p:sp>
      <p:pic>
        <p:nvPicPr>
          <p:cNvPr id="9" name="Image 2" descr="preencoded.png"/>
          <p:cNvPicPr>
            <a:picLocks noChangeAspect="1"/>
          </p:cNvPicPr>
          <p:nvPr/>
        </p:nvPicPr>
        <p:blipFill>
          <a:blip r:embed="rId5"/>
          <a:stretch>
            <a:fillRect/>
          </a:stretch>
        </p:blipFill>
        <p:spPr>
          <a:xfrm>
            <a:off x="675680" y="4609386"/>
            <a:ext cx="965240" cy="1544360"/>
          </a:xfrm>
          <a:prstGeom prst="rect">
            <a:avLst/>
          </a:prstGeom>
        </p:spPr>
      </p:pic>
      <p:sp>
        <p:nvSpPr>
          <p:cNvPr id="10" name="Text 5"/>
          <p:cNvSpPr/>
          <p:nvPr/>
        </p:nvSpPr>
        <p:spPr>
          <a:xfrm>
            <a:off x="1930479" y="4802386"/>
            <a:ext cx="3916561" cy="301585"/>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Lack of Education and Awareness</a:t>
            </a:r>
            <a:endParaRPr lang="en-US" sz="1900" dirty="0"/>
          </a:p>
        </p:txBody>
      </p:sp>
      <p:sp>
        <p:nvSpPr>
          <p:cNvPr id="11" name="Text 6"/>
          <p:cNvSpPr/>
          <p:nvPr/>
        </p:nvSpPr>
        <p:spPr>
          <a:xfrm>
            <a:off x="1930479" y="5219700"/>
            <a:ext cx="12024241" cy="617458"/>
          </a:xfrm>
          <a:prstGeom prst="rect">
            <a:avLst/>
          </a:prstGeom>
          <a:noFill/>
          <a:ln/>
        </p:spPr>
        <p:txBody>
          <a:bodyPr wrap="square" lIns="0" tIns="0" rIns="0" bIns="0" rtlCol="0" anchor="t"/>
          <a:lstStyle/>
          <a:p>
            <a:pPr marL="0" indent="0" algn="l">
              <a:lnSpc>
                <a:spcPts val="2400"/>
              </a:lnSpc>
              <a:buNone/>
            </a:pPr>
            <a:r>
              <a:rPr lang="en-US" sz="1500" dirty="0">
                <a:solidFill>
                  <a:srgbClr val="CFCBBF"/>
                </a:solidFill>
                <a:latin typeface="Raleway" pitchFamily="34" charset="0"/>
                <a:ea typeface="Raleway" pitchFamily="34" charset="-122"/>
                <a:cs typeface="Raleway" pitchFamily="34" charset="-120"/>
              </a:rPr>
              <a:t>Limited access to education and awareness about gender equality can perpetuate harmful stereotypes and discriminatory practices. Educating individuals about gender issues is crucial for promoting understanding and challenging inequalities.</a:t>
            </a:r>
            <a:endParaRPr lang="en-US" sz="1500" dirty="0"/>
          </a:p>
        </p:txBody>
      </p:sp>
      <p:pic>
        <p:nvPicPr>
          <p:cNvPr id="12" name="Image 3" descr="preencoded.png"/>
          <p:cNvPicPr>
            <a:picLocks noChangeAspect="1"/>
          </p:cNvPicPr>
          <p:nvPr/>
        </p:nvPicPr>
        <p:blipFill>
          <a:blip r:embed="rId6"/>
          <a:stretch>
            <a:fillRect/>
          </a:stretch>
        </p:blipFill>
        <p:spPr>
          <a:xfrm>
            <a:off x="675680" y="6153745"/>
            <a:ext cx="965240" cy="1544360"/>
          </a:xfrm>
          <a:prstGeom prst="rect">
            <a:avLst/>
          </a:prstGeom>
        </p:spPr>
      </p:pic>
      <p:sp>
        <p:nvSpPr>
          <p:cNvPr id="13" name="Text 7"/>
          <p:cNvSpPr/>
          <p:nvPr/>
        </p:nvSpPr>
        <p:spPr>
          <a:xfrm>
            <a:off x="1930479" y="6346746"/>
            <a:ext cx="2413159" cy="301585"/>
          </a:xfrm>
          <a:prstGeom prst="rect">
            <a:avLst/>
          </a:prstGeom>
          <a:noFill/>
          <a:ln/>
        </p:spPr>
        <p:txBody>
          <a:bodyPr wrap="none" lIns="0" tIns="0" rIns="0" bIns="0" rtlCol="0" anchor="t"/>
          <a:lstStyle/>
          <a:p>
            <a:pPr marL="0" indent="0" algn="l">
              <a:lnSpc>
                <a:spcPts val="2350"/>
              </a:lnSpc>
              <a:buNone/>
            </a:pPr>
            <a:r>
              <a:rPr lang="en-US" sz="1900" dirty="0">
                <a:solidFill>
                  <a:srgbClr val="CFCBBF"/>
                </a:solidFill>
                <a:latin typeface="Prata" pitchFamily="34" charset="0"/>
                <a:ea typeface="Prata" pitchFamily="34" charset="-122"/>
                <a:cs typeface="Prata" pitchFamily="34" charset="-120"/>
              </a:rPr>
              <a:t>Economic Factors</a:t>
            </a:r>
            <a:endParaRPr lang="en-US" sz="1900" dirty="0"/>
          </a:p>
        </p:txBody>
      </p:sp>
      <p:sp>
        <p:nvSpPr>
          <p:cNvPr id="14" name="Text 8"/>
          <p:cNvSpPr/>
          <p:nvPr/>
        </p:nvSpPr>
        <p:spPr>
          <a:xfrm>
            <a:off x="1930479" y="6764060"/>
            <a:ext cx="12024241" cy="617458"/>
          </a:xfrm>
          <a:prstGeom prst="rect">
            <a:avLst/>
          </a:prstGeom>
          <a:noFill/>
          <a:ln/>
        </p:spPr>
        <p:txBody>
          <a:bodyPr wrap="square" lIns="0" tIns="0" rIns="0" bIns="0" rtlCol="0" anchor="t"/>
          <a:lstStyle/>
          <a:p>
            <a:pPr marL="0" indent="0" algn="l">
              <a:lnSpc>
                <a:spcPts val="2400"/>
              </a:lnSpc>
              <a:buNone/>
            </a:pPr>
            <a:r>
              <a:rPr lang="en-US" sz="1500" dirty="0">
                <a:solidFill>
                  <a:srgbClr val="CFCBBF"/>
                </a:solidFill>
                <a:latin typeface="Raleway" pitchFamily="34" charset="0"/>
                <a:ea typeface="Raleway" pitchFamily="34" charset="-122"/>
                <a:cs typeface="Raleway" pitchFamily="34" charset="-120"/>
              </a:rPr>
              <a:t>Economic factors, such as poverty and limited access to resources, can exacerbate gender inequality. Women in disadvantaged communities often face greater barriers to education, healthcare, and employment.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3184" y="802005"/>
            <a:ext cx="6926818" cy="636746"/>
          </a:xfrm>
          <a:prstGeom prst="rect">
            <a:avLst/>
          </a:prstGeom>
          <a:noFill/>
          <a:ln/>
        </p:spPr>
        <p:txBody>
          <a:bodyPr wrap="none" lIns="0" tIns="0" rIns="0" bIns="0" rtlCol="0" anchor="t"/>
          <a:lstStyle/>
          <a:p>
            <a:pPr marL="0" indent="0">
              <a:lnSpc>
                <a:spcPts val="5000"/>
              </a:lnSpc>
              <a:buNone/>
            </a:pPr>
            <a:r>
              <a:rPr lang="en-US" sz="4000" dirty="0">
                <a:solidFill>
                  <a:srgbClr val="F2E782"/>
                </a:solidFill>
                <a:latin typeface="Prata" pitchFamily="34" charset="0"/>
                <a:ea typeface="Prata" pitchFamily="34" charset="-122"/>
                <a:cs typeface="Prata" pitchFamily="34" charset="-120"/>
              </a:rPr>
              <a:t>Impact of Gender Inequality</a:t>
            </a:r>
            <a:endParaRPr lang="en-US" sz="4000" dirty="0"/>
          </a:p>
        </p:txBody>
      </p:sp>
      <p:pic>
        <p:nvPicPr>
          <p:cNvPr id="3" name="Image 0" descr="preencoded.png"/>
          <p:cNvPicPr>
            <a:picLocks noChangeAspect="1"/>
          </p:cNvPicPr>
          <p:nvPr/>
        </p:nvPicPr>
        <p:blipFill>
          <a:blip r:embed="rId3"/>
          <a:stretch>
            <a:fillRect/>
          </a:stretch>
        </p:blipFill>
        <p:spPr>
          <a:xfrm>
            <a:off x="2924770" y="1846302"/>
            <a:ext cx="2178606" cy="1826538"/>
          </a:xfrm>
          <a:prstGeom prst="rect">
            <a:avLst/>
          </a:prstGeom>
        </p:spPr>
      </p:pic>
      <p:sp>
        <p:nvSpPr>
          <p:cNvPr id="4" name="Text 1"/>
          <p:cNvSpPr/>
          <p:nvPr/>
        </p:nvSpPr>
        <p:spPr>
          <a:xfrm>
            <a:off x="3970020" y="2799040"/>
            <a:ext cx="87868" cy="407670"/>
          </a:xfrm>
          <a:prstGeom prst="rect">
            <a:avLst/>
          </a:prstGeom>
          <a:noFill/>
          <a:ln/>
        </p:spPr>
        <p:txBody>
          <a:bodyPr wrap="none" lIns="0" tIns="0" rIns="0" bIns="0" rtlCol="0" anchor="t"/>
          <a:lstStyle/>
          <a:p>
            <a:pPr marL="0" indent="0" algn="ctr">
              <a:lnSpc>
                <a:spcPts val="3200"/>
              </a:lnSpc>
              <a:buNone/>
            </a:pPr>
            <a:r>
              <a:rPr lang="en-US" sz="2000" dirty="0">
                <a:solidFill>
                  <a:srgbClr val="CFCBBF"/>
                </a:solidFill>
                <a:latin typeface="Prata" pitchFamily="34" charset="0"/>
                <a:ea typeface="Prata" pitchFamily="34" charset="-122"/>
                <a:cs typeface="Prata" pitchFamily="34" charset="-120"/>
              </a:rPr>
              <a:t>1</a:t>
            </a:r>
            <a:endParaRPr lang="en-US" sz="2000" dirty="0"/>
          </a:p>
        </p:txBody>
      </p:sp>
      <p:sp>
        <p:nvSpPr>
          <p:cNvPr id="5" name="Text 2"/>
          <p:cNvSpPr/>
          <p:nvPr/>
        </p:nvSpPr>
        <p:spPr>
          <a:xfrm>
            <a:off x="5307092" y="2213015"/>
            <a:ext cx="2547461" cy="318492"/>
          </a:xfrm>
          <a:prstGeom prst="rect">
            <a:avLst/>
          </a:prstGeom>
          <a:noFill/>
          <a:ln/>
        </p:spPr>
        <p:txBody>
          <a:bodyPr wrap="none" lIns="0" tIns="0" rIns="0" bIns="0" rtlCol="0" anchor="t"/>
          <a:lstStyle/>
          <a:p>
            <a:pPr marL="0" indent="0" algn="l">
              <a:lnSpc>
                <a:spcPts val="2500"/>
              </a:lnSpc>
              <a:buNone/>
            </a:pPr>
            <a:r>
              <a:rPr lang="en-US" sz="2000" dirty="0">
                <a:solidFill>
                  <a:srgbClr val="CFCBBF"/>
                </a:solidFill>
                <a:latin typeface="Prata" pitchFamily="34" charset="0"/>
                <a:ea typeface="Prata" pitchFamily="34" charset="-122"/>
                <a:cs typeface="Prata" pitchFamily="34" charset="-120"/>
              </a:rPr>
              <a:t>Economic Loss</a:t>
            </a:r>
            <a:endParaRPr lang="en-US" sz="2000" dirty="0"/>
          </a:p>
        </p:txBody>
      </p:sp>
      <p:sp>
        <p:nvSpPr>
          <p:cNvPr id="6" name="Text 3"/>
          <p:cNvSpPr/>
          <p:nvPr/>
        </p:nvSpPr>
        <p:spPr>
          <a:xfrm>
            <a:off x="5307092" y="2653784"/>
            <a:ext cx="8406408" cy="652224"/>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Gender inequality results in economic losses for societies. Women's untapped potential and talents contribute to lower productivity and GDP growth.</a:t>
            </a:r>
            <a:endParaRPr lang="en-US" sz="1600" dirty="0"/>
          </a:p>
        </p:txBody>
      </p:sp>
      <p:sp>
        <p:nvSpPr>
          <p:cNvPr id="7" name="Shape 4"/>
          <p:cNvSpPr/>
          <p:nvPr/>
        </p:nvSpPr>
        <p:spPr>
          <a:xfrm>
            <a:off x="5154216" y="3688675"/>
            <a:ext cx="8712160" cy="11430"/>
          </a:xfrm>
          <a:prstGeom prst="roundRect">
            <a:avLst>
              <a:gd name="adj" fmla="val 267455"/>
            </a:avLst>
          </a:prstGeom>
          <a:solidFill>
            <a:srgbClr val="535455"/>
          </a:solidFill>
          <a:ln/>
        </p:spPr>
      </p:sp>
      <p:pic>
        <p:nvPicPr>
          <p:cNvPr id="8" name="Image 1" descr="preencoded.png"/>
          <p:cNvPicPr>
            <a:picLocks noChangeAspect="1"/>
          </p:cNvPicPr>
          <p:nvPr/>
        </p:nvPicPr>
        <p:blipFill>
          <a:blip r:embed="rId4"/>
          <a:stretch>
            <a:fillRect/>
          </a:stretch>
        </p:blipFill>
        <p:spPr>
          <a:xfrm>
            <a:off x="1835468" y="3723680"/>
            <a:ext cx="4357330" cy="1826538"/>
          </a:xfrm>
          <a:prstGeom prst="rect">
            <a:avLst/>
          </a:prstGeom>
        </p:spPr>
      </p:pic>
      <p:sp>
        <p:nvSpPr>
          <p:cNvPr id="9" name="Text 5"/>
          <p:cNvSpPr/>
          <p:nvPr/>
        </p:nvSpPr>
        <p:spPr>
          <a:xfrm>
            <a:off x="3935968" y="4433054"/>
            <a:ext cx="156210" cy="407670"/>
          </a:xfrm>
          <a:prstGeom prst="rect">
            <a:avLst/>
          </a:prstGeom>
          <a:noFill/>
          <a:ln/>
        </p:spPr>
        <p:txBody>
          <a:bodyPr wrap="none" lIns="0" tIns="0" rIns="0" bIns="0" rtlCol="0" anchor="t"/>
          <a:lstStyle/>
          <a:p>
            <a:pPr marL="0" indent="0" algn="ctr">
              <a:lnSpc>
                <a:spcPts val="3200"/>
              </a:lnSpc>
              <a:buNone/>
            </a:pPr>
            <a:r>
              <a:rPr lang="en-US" sz="2000" dirty="0">
                <a:solidFill>
                  <a:srgbClr val="CFCBBF"/>
                </a:solidFill>
                <a:latin typeface="Prata" pitchFamily="34" charset="0"/>
                <a:ea typeface="Prata" pitchFamily="34" charset="-122"/>
                <a:cs typeface="Prata" pitchFamily="34" charset="-120"/>
              </a:rPr>
              <a:t>2</a:t>
            </a:r>
            <a:endParaRPr lang="en-US" sz="2000" dirty="0"/>
          </a:p>
        </p:txBody>
      </p:sp>
      <p:sp>
        <p:nvSpPr>
          <p:cNvPr id="10" name="Text 6"/>
          <p:cNvSpPr/>
          <p:nvPr/>
        </p:nvSpPr>
        <p:spPr>
          <a:xfrm>
            <a:off x="6396514" y="4090392"/>
            <a:ext cx="2547461" cy="318492"/>
          </a:xfrm>
          <a:prstGeom prst="rect">
            <a:avLst/>
          </a:prstGeom>
          <a:noFill/>
          <a:ln/>
        </p:spPr>
        <p:txBody>
          <a:bodyPr wrap="none" lIns="0" tIns="0" rIns="0" bIns="0" rtlCol="0" anchor="t"/>
          <a:lstStyle/>
          <a:p>
            <a:pPr marL="0" indent="0" algn="l">
              <a:lnSpc>
                <a:spcPts val="2500"/>
              </a:lnSpc>
              <a:buNone/>
            </a:pPr>
            <a:r>
              <a:rPr lang="en-US" sz="2000" dirty="0">
                <a:solidFill>
                  <a:srgbClr val="CFCBBF"/>
                </a:solidFill>
                <a:latin typeface="Prata" pitchFamily="34" charset="0"/>
                <a:ea typeface="Prata" pitchFamily="34" charset="-122"/>
                <a:cs typeface="Prata" pitchFamily="34" charset="-120"/>
              </a:rPr>
              <a:t>Social Instability</a:t>
            </a:r>
            <a:endParaRPr lang="en-US" sz="2000" dirty="0"/>
          </a:p>
        </p:txBody>
      </p:sp>
      <p:sp>
        <p:nvSpPr>
          <p:cNvPr id="11" name="Text 7"/>
          <p:cNvSpPr/>
          <p:nvPr/>
        </p:nvSpPr>
        <p:spPr>
          <a:xfrm>
            <a:off x="6396514" y="4531162"/>
            <a:ext cx="7316986" cy="652224"/>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Gender inequality can lead to social instability and conflict. It undermines social cohesion and perpetuates violence and discrimination.</a:t>
            </a:r>
            <a:endParaRPr lang="en-US" sz="1600" dirty="0"/>
          </a:p>
        </p:txBody>
      </p:sp>
      <p:sp>
        <p:nvSpPr>
          <p:cNvPr id="12" name="Shape 8"/>
          <p:cNvSpPr/>
          <p:nvPr/>
        </p:nvSpPr>
        <p:spPr>
          <a:xfrm>
            <a:off x="6243638" y="5566053"/>
            <a:ext cx="7622738" cy="11430"/>
          </a:xfrm>
          <a:prstGeom prst="roundRect">
            <a:avLst>
              <a:gd name="adj" fmla="val 267455"/>
            </a:avLst>
          </a:prstGeom>
          <a:solidFill>
            <a:srgbClr val="535455"/>
          </a:solidFill>
          <a:ln/>
        </p:spPr>
      </p:sp>
      <p:pic>
        <p:nvPicPr>
          <p:cNvPr id="13" name="Image 2" descr="preencoded.png"/>
          <p:cNvPicPr>
            <a:picLocks noChangeAspect="1"/>
          </p:cNvPicPr>
          <p:nvPr/>
        </p:nvPicPr>
        <p:blipFill>
          <a:blip r:embed="rId5"/>
          <a:stretch>
            <a:fillRect/>
          </a:stretch>
        </p:blipFill>
        <p:spPr>
          <a:xfrm>
            <a:off x="746165" y="5601057"/>
            <a:ext cx="6535936" cy="1826538"/>
          </a:xfrm>
          <a:prstGeom prst="rect">
            <a:avLst/>
          </a:prstGeom>
        </p:spPr>
      </p:pic>
      <p:sp>
        <p:nvSpPr>
          <p:cNvPr id="14" name="Text 9"/>
          <p:cNvSpPr/>
          <p:nvPr/>
        </p:nvSpPr>
        <p:spPr>
          <a:xfrm>
            <a:off x="3935016" y="6310432"/>
            <a:ext cx="157996" cy="407670"/>
          </a:xfrm>
          <a:prstGeom prst="rect">
            <a:avLst/>
          </a:prstGeom>
          <a:noFill/>
          <a:ln/>
        </p:spPr>
        <p:txBody>
          <a:bodyPr wrap="none" lIns="0" tIns="0" rIns="0" bIns="0" rtlCol="0" anchor="t"/>
          <a:lstStyle/>
          <a:p>
            <a:pPr marL="0" indent="0" algn="ctr">
              <a:lnSpc>
                <a:spcPts val="3200"/>
              </a:lnSpc>
              <a:buNone/>
            </a:pPr>
            <a:r>
              <a:rPr lang="en-US" sz="2000" dirty="0">
                <a:solidFill>
                  <a:srgbClr val="CFCBBF"/>
                </a:solidFill>
                <a:latin typeface="Prata" pitchFamily="34" charset="0"/>
                <a:ea typeface="Prata" pitchFamily="34" charset="-122"/>
                <a:cs typeface="Prata" pitchFamily="34" charset="-120"/>
              </a:rPr>
              <a:t>3</a:t>
            </a:r>
            <a:endParaRPr lang="en-US" sz="2000" dirty="0"/>
          </a:p>
        </p:txBody>
      </p:sp>
      <p:sp>
        <p:nvSpPr>
          <p:cNvPr id="15" name="Text 10"/>
          <p:cNvSpPr/>
          <p:nvPr/>
        </p:nvSpPr>
        <p:spPr>
          <a:xfrm>
            <a:off x="7485817" y="5804773"/>
            <a:ext cx="2547461" cy="318492"/>
          </a:xfrm>
          <a:prstGeom prst="rect">
            <a:avLst/>
          </a:prstGeom>
          <a:noFill/>
          <a:ln/>
        </p:spPr>
        <p:txBody>
          <a:bodyPr wrap="none" lIns="0" tIns="0" rIns="0" bIns="0" rtlCol="0" anchor="t"/>
          <a:lstStyle/>
          <a:p>
            <a:pPr marL="0" indent="0" algn="l">
              <a:lnSpc>
                <a:spcPts val="2500"/>
              </a:lnSpc>
              <a:buNone/>
            </a:pPr>
            <a:r>
              <a:rPr lang="en-US" sz="2000" dirty="0">
                <a:solidFill>
                  <a:srgbClr val="CFCBBF"/>
                </a:solidFill>
                <a:latin typeface="Prata" pitchFamily="34" charset="0"/>
                <a:ea typeface="Prata" pitchFamily="34" charset="-122"/>
                <a:cs typeface="Prata" pitchFamily="34" charset="-120"/>
              </a:rPr>
              <a:t>Reduced Well-being</a:t>
            </a:r>
            <a:endParaRPr lang="en-US" sz="2000" dirty="0"/>
          </a:p>
        </p:txBody>
      </p:sp>
      <p:sp>
        <p:nvSpPr>
          <p:cNvPr id="16" name="Text 11"/>
          <p:cNvSpPr/>
          <p:nvPr/>
        </p:nvSpPr>
        <p:spPr>
          <a:xfrm>
            <a:off x="7485817" y="6245543"/>
            <a:ext cx="6227683" cy="978337"/>
          </a:xfrm>
          <a:prstGeom prst="rect">
            <a:avLst/>
          </a:prstGeom>
          <a:noFill/>
          <a:ln/>
        </p:spPr>
        <p:txBody>
          <a:bodyPr wrap="square" lIns="0" tIns="0" rIns="0" bIns="0" rtlCol="0" anchor="t"/>
          <a:lstStyle/>
          <a:p>
            <a:pPr marL="0" indent="0" algn="l">
              <a:lnSpc>
                <a:spcPts val="2550"/>
              </a:lnSpc>
              <a:buNone/>
            </a:pPr>
            <a:r>
              <a:rPr lang="en-US" sz="1600" dirty="0">
                <a:solidFill>
                  <a:srgbClr val="CFCBBF"/>
                </a:solidFill>
                <a:latin typeface="Raleway" pitchFamily="34" charset="0"/>
                <a:ea typeface="Raleway" pitchFamily="34" charset="-122"/>
                <a:cs typeface="Raleway" pitchFamily="34" charset="-120"/>
              </a:rPr>
              <a:t>Gender inequality negatively impacts women's well-being, limiting their access to healthcare, education, and other essential services. It perpetuates poverty and marginalization.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1867" y="607457"/>
            <a:ext cx="10034707" cy="581978"/>
          </a:xfrm>
          <a:prstGeom prst="rect">
            <a:avLst/>
          </a:prstGeom>
          <a:noFill/>
          <a:ln/>
        </p:spPr>
        <p:txBody>
          <a:bodyPr wrap="none" lIns="0" tIns="0" rIns="0" bIns="0" rtlCol="0" anchor="t"/>
          <a:lstStyle/>
          <a:p>
            <a:pPr marL="0" indent="0">
              <a:lnSpc>
                <a:spcPts val="4550"/>
              </a:lnSpc>
              <a:buNone/>
            </a:pPr>
            <a:r>
              <a:rPr lang="en-US" sz="3650" dirty="0">
                <a:solidFill>
                  <a:srgbClr val="F2E782"/>
                </a:solidFill>
                <a:latin typeface="Prata" pitchFamily="34" charset="0"/>
                <a:ea typeface="Prata" pitchFamily="34" charset="-122"/>
                <a:cs typeface="Prata" pitchFamily="34" charset="-120"/>
              </a:rPr>
              <a:t>Current Efforts to Address Gender Inequality</a:t>
            </a:r>
            <a:endParaRPr lang="en-US" sz="3650" dirty="0"/>
          </a:p>
        </p:txBody>
      </p:sp>
      <p:sp>
        <p:nvSpPr>
          <p:cNvPr id="3" name="Shape 1"/>
          <p:cNvSpPr/>
          <p:nvPr/>
        </p:nvSpPr>
        <p:spPr>
          <a:xfrm>
            <a:off x="651867" y="1561862"/>
            <a:ext cx="1665803" cy="1370767"/>
          </a:xfrm>
          <a:prstGeom prst="roundRect">
            <a:avLst>
              <a:gd name="adj" fmla="val 2038"/>
            </a:avLst>
          </a:prstGeom>
          <a:solidFill>
            <a:srgbClr val="3A3B3C"/>
          </a:solidFill>
          <a:ln/>
        </p:spPr>
      </p:sp>
      <p:sp>
        <p:nvSpPr>
          <p:cNvPr id="4" name="Text 2"/>
          <p:cNvSpPr/>
          <p:nvPr/>
        </p:nvSpPr>
        <p:spPr>
          <a:xfrm>
            <a:off x="838081" y="2060972"/>
            <a:ext cx="80367" cy="372428"/>
          </a:xfrm>
          <a:prstGeom prst="rect">
            <a:avLst/>
          </a:prstGeom>
          <a:noFill/>
          <a:ln/>
        </p:spPr>
        <p:txBody>
          <a:bodyPr wrap="none" lIns="0" tIns="0" rIns="0" bIns="0" rtlCol="0" anchor="t"/>
          <a:lstStyle/>
          <a:p>
            <a:pPr marL="0" indent="0" algn="ctr">
              <a:lnSpc>
                <a:spcPts val="2900"/>
              </a:lnSpc>
              <a:buNone/>
            </a:pPr>
            <a:r>
              <a:rPr lang="en-US" sz="1800" dirty="0">
                <a:solidFill>
                  <a:srgbClr val="CFCBBF"/>
                </a:solidFill>
                <a:latin typeface="Prata" pitchFamily="34" charset="0"/>
                <a:ea typeface="Prata" pitchFamily="34" charset="-122"/>
                <a:cs typeface="Prata" pitchFamily="34" charset="-120"/>
              </a:rPr>
              <a:t>1</a:t>
            </a:r>
            <a:endParaRPr lang="en-US" sz="1800" dirty="0"/>
          </a:p>
        </p:txBody>
      </p:sp>
      <p:sp>
        <p:nvSpPr>
          <p:cNvPr id="5" name="Text 3"/>
          <p:cNvSpPr/>
          <p:nvPr/>
        </p:nvSpPr>
        <p:spPr>
          <a:xfrm>
            <a:off x="2503884" y="1748076"/>
            <a:ext cx="2328148" cy="290870"/>
          </a:xfrm>
          <a:prstGeom prst="rect">
            <a:avLst/>
          </a:prstGeom>
          <a:noFill/>
          <a:ln/>
        </p:spPr>
        <p:txBody>
          <a:bodyPr wrap="none" lIns="0" tIns="0" rIns="0" bIns="0" rtlCol="0" anchor="t"/>
          <a:lstStyle/>
          <a:p>
            <a:pPr marL="0" indent="0" algn="l">
              <a:lnSpc>
                <a:spcPts val="2250"/>
              </a:lnSpc>
              <a:buNone/>
            </a:pPr>
            <a:r>
              <a:rPr lang="en-US" sz="1800" dirty="0">
                <a:solidFill>
                  <a:srgbClr val="CFCBBF"/>
                </a:solidFill>
                <a:latin typeface="Prata" pitchFamily="34" charset="0"/>
                <a:ea typeface="Prata" pitchFamily="34" charset="-122"/>
                <a:cs typeface="Prata" pitchFamily="34" charset="-120"/>
              </a:rPr>
              <a:t>International Law</a:t>
            </a:r>
            <a:endParaRPr lang="en-US" sz="1800" dirty="0"/>
          </a:p>
        </p:txBody>
      </p:sp>
      <p:sp>
        <p:nvSpPr>
          <p:cNvPr id="6" name="Text 4"/>
          <p:cNvSpPr/>
          <p:nvPr/>
        </p:nvSpPr>
        <p:spPr>
          <a:xfrm>
            <a:off x="2503884" y="2150626"/>
            <a:ext cx="11288435" cy="595789"/>
          </a:xfrm>
          <a:prstGeom prst="rect">
            <a:avLst/>
          </a:prstGeom>
          <a:noFill/>
          <a:ln/>
        </p:spPr>
        <p:txBody>
          <a:bodyPr wrap="square" lIns="0" tIns="0" rIns="0" bIns="0" rtlCol="0" anchor="t"/>
          <a:lstStyle/>
          <a:p>
            <a:pPr marL="0" indent="0" algn="l">
              <a:lnSpc>
                <a:spcPts val="2300"/>
              </a:lnSpc>
              <a:buNone/>
            </a:pPr>
            <a:r>
              <a:rPr lang="en-US" sz="1450" dirty="0">
                <a:solidFill>
                  <a:srgbClr val="CFCBBF"/>
                </a:solidFill>
                <a:latin typeface="Raleway" pitchFamily="34" charset="0"/>
                <a:ea typeface="Raleway" pitchFamily="34" charset="-122"/>
                <a:cs typeface="Raleway" pitchFamily="34" charset="-120"/>
              </a:rPr>
              <a:t>International law, such as the Convention on the Elimination of All Forms of Discrimination against Women (CEDAW), provides a framework for promoting gender equality and addressing discriminatory practices.</a:t>
            </a:r>
            <a:endParaRPr lang="en-US" sz="1450" dirty="0"/>
          </a:p>
        </p:txBody>
      </p:sp>
      <p:sp>
        <p:nvSpPr>
          <p:cNvPr id="7" name="Shape 5"/>
          <p:cNvSpPr/>
          <p:nvPr/>
        </p:nvSpPr>
        <p:spPr>
          <a:xfrm>
            <a:off x="2410778" y="2923103"/>
            <a:ext cx="11474648" cy="11430"/>
          </a:xfrm>
          <a:prstGeom prst="roundRect">
            <a:avLst>
              <a:gd name="adj" fmla="val 244432"/>
            </a:avLst>
          </a:prstGeom>
          <a:solidFill>
            <a:srgbClr val="535455"/>
          </a:solidFill>
          <a:ln/>
        </p:spPr>
      </p:sp>
      <p:sp>
        <p:nvSpPr>
          <p:cNvPr id="8" name="Shape 6"/>
          <p:cNvSpPr/>
          <p:nvPr/>
        </p:nvSpPr>
        <p:spPr>
          <a:xfrm>
            <a:off x="651867" y="3025735"/>
            <a:ext cx="3331607" cy="1370767"/>
          </a:xfrm>
          <a:prstGeom prst="roundRect">
            <a:avLst>
              <a:gd name="adj" fmla="val 2038"/>
            </a:avLst>
          </a:prstGeom>
          <a:solidFill>
            <a:srgbClr val="3A3B3C"/>
          </a:solidFill>
          <a:ln/>
        </p:spPr>
      </p:sp>
      <p:sp>
        <p:nvSpPr>
          <p:cNvPr id="9" name="Text 7"/>
          <p:cNvSpPr/>
          <p:nvPr/>
        </p:nvSpPr>
        <p:spPr>
          <a:xfrm>
            <a:off x="838081" y="3524845"/>
            <a:ext cx="142756" cy="372428"/>
          </a:xfrm>
          <a:prstGeom prst="rect">
            <a:avLst/>
          </a:prstGeom>
          <a:noFill/>
          <a:ln/>
        </p:spPr>
        <p:txBody>
          <a:bodyPr wrap="none" lIns="0" tIns="0" rIns="0" bIns="0" rtlCol="0" anchor="t"/>
          <a:lstStyle/>
          <a:p>
            <a:pPr marL="0" indent="0" algn="ctr">
              <a:lnSpc>
                <a:spcPts val="2900"/>
              </a:lnSpc>
              <a:buNone/>
            </a:pPr>
            <a:r>
              <a:rPr lang="en-US" sz="1800" dirty="0">
                <a:solidFill>
                  <a:srgbClr val="CFCBBF"/>
                </a:solidFill>
                <a:latin typeface="Prata" pitchFamily="34" charset="0"/>
                <a:ea typeface="Prata" pitchFamily="34" charset="-122"/>
                <a:cs typeface="Prata" pitchFamily="34" charset="-120"/>
              </a:rPr>
              <a:t>2</a:t>
            </a:r>
            <a:endParaRPr lang="en-US" sz="1800" dirty="0"/>
          </a:p>
        </p:txBody>
      </p:sp>
      <p:sp>
        <p:nvSpPr>
          <p:cNvPr id="10" name="Text 8"/>
          <p:cNvSpPr/>
          <p:nvPr/>
        </p:nvSpPr>
        <p:spPr>
          <a:xfrm>
            <a:off x="4169688" y="3211949"/>
            <a:ext cx="2328148" cy="290870"/>
          </a:xfrm>
          <a:prstGeom prst="rect">
            <a:avLst/>
          </a:prstGeom>
          <a:noFill/>
          <a:ln/>
        </p:spPr>
        <p:txBody>
          <a:bodyPr wrap="none" lIns="0" tIns="0" rIns="0" bIns="0" rtlCol="0" anchor="t"/>
          <a:lstStyle/>
          <a:p>
            <a:pPr marL="0" indent="0" algn="l">
              <a:lnSpc>
                <a:spcPts val="2250"/>
              </a:lnSpc>
              <a:buNone/>
            </a:pPr>
            <a:r>
              <a:rPr lang="en-US" sz="1800" dirty="0">
                <a:solidFill>
                  <a:srgbClr val="CFCBBF"/>
                </a:solidFill>
                <a:latin typeface="Prata" pitchFamily="34" charset="0"/>
                <a:ea typeface="Prata" pitchFamily="34" charset="-122"/>
                <a:cs typeface="Prata" pitchFamily="34" charset="-120"/>
              </a:rPr>
              <a:t>National Policies</a:t>
            </a:r>
            <a:endParaRPr lang="en-US" sz="1800" dirty="0"/>
          </a:p>
        </p:txBody>
      </p:sp>
      <p:sp>
        <p:nvSpPr>
          <p:cNvPr id="11" name="Text 9"/>
          <p:cNvSpPr/>
          <p:nvPr/>
        </p:nvSpPr>
        <p:spPr>
          <a:xfrm>
            <a:off x="4169688" y="3614499"/>
            <a:ext cx="9622631" cy="595789"/>
          </a:xfrm>
          <a:prstGeom prst="rect">
            <a:avLst/>
          </a:prstGeom>
          <a:noFill/>
          <a:ln/>
        </p:spPr>
        <p:txBody>
          <a:bodyPr wrap="square" lIns="0" tIns="0" rIns="0" bIns="0" rtlCol="0" anchor="t"/>
          <a:lstStyle/>
          <a:p>
            <a:pPr marL="0" indent="0" algn="l">
              <a:lnSpc>
                <a:spcPts val="2300"/>
              </a:lnSpc>
              <a:buNone/>
            </a:pPr>
            <a:r>
              <a:rPr lang="en-US" sz="1450" dirty="0">
                <a:solidFill>
                  <a:srgbClr val="CFCBBF"/>
                </a:solidFill>
                <a:latin typeface="Raleway" pitchFamily="34" charset="0"/>
                <a:ea typeface="Raleway" pitchFamily="34" charset="-122"/>
                <a:cs typeface="Raleway" pitchFamily="34" charset="-120"/>
              </a:rPr>
              <a:t>Many countries have adopted national policies and programs to promote gender equality, addressing areas like education, employment, and healthcare. These initiatives aim to create a more equitable society.</a:t>
            </a:r>
            <a:endParaRPr lang="en-US" sz="1450" dirty="0"/>
          </a:p>
        </p:txBody>
      </p:sp>
      <p:sp>
        <p:nvSpPr>
          <p:cNvPr id="12" name="Shape 10"/>
          <p:cNvSpPr/>
          <p:nvPr/>
        </p:nvSpPr>
        <p:spPr>
          <a:xfrm>
            <a:off x="4076581" y="4386977"/>
            <a:ext cx="9808845" cy="11430"/>
          </a:xfrm>
          <a:prstGeom prst="roundRect">
            <a:avLst>
              <a:gd name="adj" fmla="val 244432"/>
            </a:avLst>
          </a:prstGeom>
          <a:solidFill>
            <a:srgbClr val="535455"/>
          </a:solidFill>
          <a:ln/>
        </p:spPr>
      </p:sp>
      <p:sp>
        <p:nvSpPr>
          <p:cNvPr id="13" name="Shape 11"/>
          <p:cNvSpPr/>
          <p:nvPr/>
        </p:nvSpPr>
        <p:spPr>
          <a:xfrm>
            <a:off x="651867" y="4489609"/>
            <a:ext cx="4997410" cy="1370767"/>
          </a:xfrm>
          <a:prstGeom prst="roundRect">
            <a:avLst>
              <a:gd name="adj" fmla="val 2038"/>
            </a:avLst>
          </a:prstGeom>
          <a:solidFill>
            <a:srgbClr val="3A3B3C"/>
          </a:solidFill>
          <a:ln/>
        </p:spPr>
      </p:sp>
      <p:sp>
        <p:nvSpPr>
          <p:cNvPr id="14" name="Text 12"/>
          <p:cNvSpPr/>
          <p:nvPr/>
        </p:nvSpPr>
        <p:spPr>
          <a:xfrm>
            <a:off x="838081" y="4988719"/>
            <a:ext cx="144423" cy="372428"/>
          </a:xfrm>
          <a:prstGeom prst="rect">
            <a:avLst/>
          </a:prstGeom>
          <a:noFill/>
          <a:ln/>
        </p:spPr>
        <p:txBody>
          <a:bodyPr wrap="none" lIns="0" tIns="0" rIns="0" bIns="0" rtlCol="0" anchor="t"/>
          <a:lstStyle/>
          <a:p>
            <a:pPr marL="0" indent="0" algn="ctr">
              <a:lnSpc>
                <a:spcPts val="2900"/>
              </a:lnSpc>
              <a:buNone/>
            </a:pPr>
            <a:r>
              <a:rPr lang="en-US" sz="1800" dirty="0">
                <a:solidFill>
                  <a:srgbClr val="CFCBBF"/>
                </a:solidFill>
                <a:latin typeface="Prata" pitchFamily="34" charset="0"/>
                <a:ea typeface="Prata" pitchFamily="34" charset="-122"/>
                <a:cs typeface="Prata" pitchFamily="34" charset="-120"/>
              </a:rPr>
              <a:t>3</a:t>
            </a:r>
            <a:endParaRPr lang="en-US" sz="1800" dirty="0"/>
          </a:p>
        </p:txBody>
      </p:sp>
      <p:sp>
        <p:nvSpPr>
          <p:cNvPr id="15" name="Text 13"/>
          <p:cNvSpPr/>
          <p:nvPr/>
        </p:nvSpPr>
        <p:spPr>
          <a:xfrm>
            <a:off x="5835491" y="4675823"/>
            <a:ext cx="3010019" cy="290870"/>
          </a:xfrm>
          <a:prstGeom prst="rect">
            <a:avLst/>
          </a:prstGeom>
          <a:noFill/>
          <a:ln/>
        </p:spPr>
        <p:txBody>
          <a:bodyPr wrap="none" lIns="0" tIns="0" rIns="0" bIns="0" rtlCol="0" anchor="t"/>
          <a:lstStyle/>
          <a:p>
            <a:pPr marL="0" indent="0" algn="l">
              <a:lnSpc>
                <a:spcPts val="2250"/>
              </a:lnSpc>
              <a:buNone/>
            </a:pPr>
            <a:r>
              <a:rPr lang="en-US" sz="1800" dirty="0">
                <a:solidFill>
                  <a:srgbClr val="CFCBBF"/>
                </a:solidFill>
                <a:latin typeface="Prata" pitchFamily="34" charset="0"/>
                <a:ea typeface="Prata" pitchFamily="34" charset="-122"/>
                <a:cs typeface="Prata" pitchFamily="34" charset="-120"/>
              </a:rPr>
              <a:t>Civil Society Organizations</a:t>
            </a:r>
            <a:endParaRPr lang="en-US" sz="1800" dirty="0"/>
          </a:p>
        </p:txBody>
      </p:sp>
      <p:sp>
        <p:nvSpPr>
          <p:cNvPr id="16" name="Text 14"/>
          <p:cNvSpPr/>
          <p:nvPr/>
        </p:nvSpPr>
        <p:spPr>
          <a:xfrm>
            <a:off x="5835491" y="5078373"/>
            <a:ext cx="7956828" cy="595789"/>
          </a:xfrm>
          <a:prstGeom prst="rect">
            <a:avLst/>
          </a:prstGeom>
          <a:noFill/>
          <a:ln/>
        </p:spPr>
        <p:txBody>
          <a:bodyPr wrap="square" lIns="0" tIns="0" rIns="0" bIns="0" rtlCol="0" anchor="t"/>
          <a:lstStyle/>
          <a:p>
            <a:pPr marL="0" indent="0" algn="l">
              <a:lnSpc>
                <a:spcPts val="2300"/>
              </a:lnSpc>
              <a:buNone/>
            </a:pPr>
            <a:r>
              <a:rPr lang="en-US" sz="1450" dirty="0">
                <a:solidFill>
                  <a:srgbClr val="CFCBBF"/>
                </a:solidFill>
                <a:latin typeface="Raleway" pitchFamily="34" charset="0"/>
                <a:ea typeface="Raleway" pitchFamily="34" charset="-122"/>
                <a:cs typeface="Raleway" pitchFamily="34" charset="-120"/>
              </a:rPr>
              <a:t>Civil society organizations play a crucial role in advocating for women's rights, raising awareness about gender inequality, and providing support services to women and girls.</a:t>
            </a:r>
            <a:endParaRPr lang="en-US" sz="1450" dirty="0"/>
          </a:p>
        </p:txBody>
      </p:sp>
      <p:sp>
        <p:nvSpPr>
          <p:cNvPr id="17" name="Shape 15"/>
          <p:cNvSpPr/>
          <p:nvPr/>
        </p:nvSpPr>
        <p:spPr>
          <a:xfrm>
            <a:off x="5742384" y="5850850"/>
            <a:ext cx="8143042" cy="11430"/>
          </a:xfrm>
          <a:prstGeom prst="roundRect">
            <a:avLst>
              <a:gd name="adj" fmla="val 244432"/>
            </a:avLst>
          </a:prstGeom>
          <a:solidFill>
            <a:srgbClr val="535455"/>
          </a:solidFill>
          <a:ln/>
        </p:spPr>
      </p:sp>
      <p:sp>
        <p:nvSpPr>
          <p:cNvPr id="18" name="Shape 16"/>
          <p:cNvSpPr/>
          <p:nvPr/>
        </p:nvSpPr>
        <p:spPr>
          <a:xfrm>
            <a:off x="651867" y="5953482"/>
            <a:ext cx="6663333" cy="1668661"/>
          </a:xfrm>
          <a:prstGeom prst="roundRect">
            <a:avLst>
              <a:gd name="adj" fmla="val 1674"/>
            </a:avLst>
          </a:prstGeom>
          <a:solidFill>
            <a:srgbClr val="3A3B3C"/>
          </a:solidFill>
          <a:ln/>
        </p:spPr>
      </p:sp>
      <p:sp>
        <p:nvSpPr>
          <p:cNvPr id="19" name="Text 17"/>
          <p:cNvSpPr/>
          <p:nvPr/>
        </p:nvSpPr>
        <p:spPr>
          <a:xfrm>
            <a:off x="838081" y="6601539"/>
            <a:ext cx="136208" cy="372428"/>
          </a:xfrm>
          <a:prstGeom prst="rect">
            <a:avLst/>
          </a:prstGeom>
          <a:noFill/>
          <a:ln/>
        </p:spPr>
        <p:txBody>
          <a:bodyPr wrap="none" lIns="0" tIns="0" rIns="0" bIns="0" rtlCol="0" anchor="t"/>
          <a:lstStyle/>
          <a:p>
            <a:pPr marL="0" indent="0" algn="ctr">
              <a:lnSpc>
                <a:spcPts val="2900"/>
              </a:lnSpc>
              <a:buNone/>
            </a:pPr>
            <a:r>
              <a:rPr lang="en-US" sz="1800" dirty="0">
                <a:solidFill>
                  <a:srgbClr val="CFCBBF"/>
                </a:solidFill>
                <a:latin typeface="Prata" pitchFamily="34" charset="0"/>
                <a:ea typeface="Prata" pitchFamily="34" charset="-122"/>
                <a:cs typeface="Prata" pitchFamily="34" charset="-120"/>
              </a:rPr>
              <a:t>4</a:t>
            </a:r>
            <a:endParaRPr lang="en-US" sz="1800" dirty="0"/>
          </a:p>
        </p:txBody>
      </p:sp>
      <p:sp>
        <p:nvSpPr>
          <p:cNvPr id="20" name="Text 18"/>
          <p:cNvSpPr/>
          <p:nvPr/>
        </p:nvSpPr>
        <p:spPr>
          <a:xfrm>
            <a:off x="7501414" y="6139696"/>
            <a:ext cx="2818924" cy="290870"/>
          </a:xfrm>
          <a:prstGeom prst="rect">
            <a:avLst/>
          </a:prstGeom>
          <a:noFill/>
          <a:ln/>
        </p:spPr>
        <p:txBody>
          <a:bodyPr wrap="none" lIns="0" tIns="0" rIns="0" bIns="0" rtlCol="0" anchor="t"/>
          <a:lstStyle/>
          <a:p>
            <a:pPr marL="0" indent="0" algn="l">
              <a:lnSpc>
                <a:spcPts val="2250"/>
              </a:lnSpc>
              <a:buNone/>
            </a:pPr>
            <a:r>
              <a:rPr lang="en-US" sz="1800" dirty="0">
                <a:solidFill>
                  <a:srgbClr val="CFCBBF"/>
                </a:solidFill>
                <a:latin typeface="Prata" pitchFamily="34" charset="0"/>
                <a:ea typeface="Prata" pitchFamily="34" charset="-122"/>
                <a:cs typeface="Prata" pitchFamily="34" charset="-120"/>
              </a:rPr>
              <a:t>Empowerment Initiatives</a:t>
            </a:r>
            <a:endParaRPr lang="en-US" sz="1800" dirty="0"/>
          </a:p>
        </p:txBody>
      </p:sp>
      <p:sp>
        <p:nvSpPr>
          <p:cNvPr id="21" name="Text 19"/>
          <p:cNvSpPr/>
          <p:nvPr/>
        </p:nvSpPr>
        <p:spPr>
          <a:xfrm>
            <a:off x="7501414" y="6542246"/>
            <a:ext cx="6290905" cy="893683"/>
          </a:xfrm>
          <a:prstGeom prst="rect">
            <a:avLst/>
          </a:prstGeom>
          <a:noFill/>
          <a:ln/>
        </p:spPr>
        <p:txBody>
          <a:bodyPr wrap="square" lIns="0" tIns="0" rIns="0" bIns="0" rtlCol="0" anchor="t"/>
          <a:lstStyle/>
          <a:p>
            <a:pPr marL="0" indent="0" algn="l">
              <a:lnSpc>
                <a:spcPts val="2300"/>
              </a:lnSpc>
              <a:buNone/>
            </a:pPr>
            <a:r>
              <a:rPr lang="en-US" sz="1450" dirty="0">
                <a:solidFill>
                  <a:srgbClr val="CFCBBF"/>
                </a:solidFill>
                <a:latin typeface="Raleway" pitchFamily="34" charset="0"/>
                <a:ea typeface="Raleway" pitchFamily="34" charset="-122"/>
                <a:cs typeface="Raleway" pitchFamily="34" charset="-120"/>
              </a:rPr>
              <a:t>Empowerment initiatives aim to enhance women's economic independence, leadership skills, and decision-making power. These programs promote women's participation in all aspects of society.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9724" y="590550"/>
            <a:ext cx="7844552" cy="1160145"/>
          </a:xfrm>
          <a:prstGeom prst="rect">
            <a:avLst/>
          </a:prstGeom>
          <a:noFill/>
          <a:ln/>
        </p:spPr>
        <p:txBody>
          <a:bodyPr wrap="square" lIns="0" tIns="0" rIns="0" bIns="0" rtlCol="0" anchor="t"/>
          <a:lstStyle/>
          <a:p>
            <a:pPr marL="0" indent="0">
              <a:lnSpc>
                <a:spcPts val="4550"/>
              </a:lnSpc>
              <a:buNone/>
            </a:pPr>
            <a:r>
              <a:rPr lang="en-US" sz="3650" dirty="0">
                <a:solidFill>
                  <a:srgbClr val="F2E782"/>
                </a:solidFill>
                <a:latin typeface="Prata" pitchFamily="34" charset="0"/>
                <a:ea typeface="Prata" pitchFamily="34" charset="-122"/>
                <a:cs typeface="Prata" pitchFamily="34" charset="-120"/>
              </a:rPr>
              <a:t>Challenges in Achieving Gender Equality</a:t>
            </a:r>
            <a:endParaRPr lang="en-US" sz="3650" dirty="0"/>
          </a:p>
        </p:txBody>
      </p:sp>
      <p:sp>
        <p:nvSpPr>
          <p:cNvPr id="4" name="Text 1"/>
          <p:cNvSpPr/>
          <p:nvPr/>
        </p:nvSpPr>
        <p:spPr>
          <a:xfrm>
            <a:off x="649724" y="2121932"/>
            <a:ext cx="3782973" cy="612577"/>
          </a:xfrm>
          <a:prstGeom prst="rect">
            <a:avLst/>
          </a:prstGeom>
          <a:noFill/>
          <a:ln/>
        </p:spPr>
        <p:txBody>
          <a:bodyPr wrap="none" lIns="0" tIns="0" rIns="0" bIns="0" rtlCol="0" anchor="t"/>
          <a:lstStyle/>
          <a:p>
            <a:pPr marL="0" indent="0" algn="ctr">
              <a:lnSpc>
                <a:spcPts val="4800"/>
              </a:lnSpc>
              <a:buNone/>
            </a:pPr>
            <a:r>
              <a:rPr lang="en-US" sz="4800" dirty="0">
                <a:solidFill>
                  <a:srgbClr val="CFCBBF"/>
                </a:solidFill>
                <a:latin typeface="Prata" pitchFamily="34" charset="0"/>
                <a:ea typeface="Prata" pitchFamily="34" charset="-122"/>
                <a:cs typeface="Prata" pitchFamily="34" charset="-120"/>
              </a:rPr>
              <a:t>1</a:t>
            </a:r>
            <a:endParaRPr lang="en-US" sz="4800" dirty="0"/>
          </a:p>
        </p:txBody>
      </p:sp>
      <p:sp>
        <p:nvSpPr>
          <p:cNvPr id="5" name="Text 2"/>
          <p:cNvSpPr/>
          <p:nvPr/>
        </p:nvSpPr>
        <p:spPr>
          <a:xfrm>
            <a:off x="1380887" y="2966442"/>
            <a:ext cx="2320647" cy="290036"/>
          </a:xfrm>
          <a:prstGeom prst="rect">
            <a:avLst/>
          </a:prstGeom>
          <a:noFill/>
          <a:ln/>
        </p:spPr>
        <p:txBody>
          <a:bodyPr wrap="none" lIns="0" tIns="0" rIns="0" bIns="0" rtlCol="0" anchor="t"/>
          <a:lstStyle/>
          <a:p>
            <a:pPr marL="0" indent="0" algn="ctr">
              <a:lnSpc>
                <a:spcPts val="2250"/>
              </a:lnSpc>
              <a:buNone/>
            </a:pPr>
            <a:r>
              <a:rPr lang="en-US" sz="1800" dirty="0">
                <a:solidFill>
                  <a:srgbClr val="CFCBBF"/>
                </a:solidFill>
                <a:latin typeface="Prata" pitchFamily="34" charset="0"/>
                <a:ea typeface="Prata" pitchFamily="34" charset="-122"/>
                <a:cs typeface="Prata" pitchFamily="34" charset="-120"/>
              </a:rPr>
              <a:t>Cultural Barriers</a:t>
            </a:r>
            <a:endParaRPr lang="en-US" sz="1800" dirty="0"/>
          </a:p>
        </p:txBody>
      </p:sp>
      <p:sp>
        <p:nvSpPr>
          <p:cNvPr id="6" name="Text 3"/>
          <p:cNvSpPr/>
          <p:nvPr/>
        </p:nvSpPr>
        <p:spPr>
          <a:xfrm>
            <a:off x="649724" y="3367802"/>
            <a:ext cx="3782973" cy="1187768"/>
          </a:xfrm>
          <a:prstGeom prst="rect">
            <a:avLst/>
          </a:prstGeom>
          <a:noFill/>
          <a:ln/>
        </p:spPr>
        <p:txBody>
          <a:bodyPr wrap="square" lIns="0" tIns="0" rIns="0" bIns="0" rtlCol="0" anchor="t"/>
          <a:lstStyle/>
          <a:p>
            <a:pPr marL="0" indent="0" algn="ctr">
              <a:lnSpc>
                <a:spcPts val="2300"/>
              </a:lnSpc>
              <a:buNone/>
            </a:pPr>
            <a:r>
              <a:rPr lang="en-US" sz="1450" dirty="0">
                <a:solidFill>
                  <a:srgbClr val="CFCBBF"/>
                </a:solidFill>
                <a:latin typeface="Raleway" pitchFamily="34" charset="0"/>
                <a:ea typeface="Raleway" pitchFamily="34" charset="-122"/>
                <a:cs typeface="Raleway" pitchFamily="34" charset="-120"/>
              </a:rPr>
              <a:t>Overcoming deeply ingrained cultural norms and beliefs that perpetuate gender stereotypes and discrimination remains a significant challenge.</a:t>
            </a:r>
            <a:endParaRPr lang="en-US" sz="1450" dirty="0"/>
          </a:p>
        </p:txBody>
      </p:sp>
      <p:sp>
        <p:nvSpPr>
          <p:cNvPr id="7" name="Text 4"/>
          <p:cNvSpPr/>
          <p:nvPr/>
        </p:nvSpPr>
        <p:spPr>
          <a:xfrm>
            <a:off x="4711184" y="2121932"/>
            <a:ext cx="3783092" cy="612577"/>
          </a:xfrm>
          <a:prstGeom prst="rect">
            <a:avLst/>
          </a:prstGeom>
          <a:noFill/>
          <a:ln/>
        </p:spPr>
        <p:txBody>
          <a:bodyPr wrap="none" lIns="0" tIns="0" rIns="0" bIns="0" rtlCol="0" anchor="t"/>
          <a:lstStyle/>
          <a:p>
            <a:pPr marL="0" indent="0" algn="ctr">
              <a:lnSpc>
                <a:spcPts val="4800"/>
              </a:lnSpc>
              <a:buNone/>
            </a:pPr>
            <a:r>
              <a:rPr lang="en-US" sz="4800" dirty="0">
                <a:solidFill>
                  <a:srgbClr val="CFCBBF"/>
                </a:solidFill>
                <a:latin typeface="Prata" pitchFamily="34" charset="0"/>
                <a:ea typeface="Prata" pitchFamily="34" charset="-122"/>
                <a:cs typeface="Prata" pitchFamily="34" charset="-120"/>
              </a:rPr>
              <a:t>2</a:t>
            </a:r>
            <a:endParaRPr lang="en-US" sz="4800" dirty="0"/>
          </a:p>
        </p:txBody>
      </p:sp>
      <p:sp>
        <p:nvSpPr>
          <p:cNvPr id="8" name="Text 5"/>
          <p:cNvSpPr/>
          <p:nvPr/>
        </p:nvSpPr>
        <p:spPr>
          <a:xfrm>
            <a:off x="5442347" y="2966442"/>
            <a:ext cx="2320647" cy="290036"/>
          </a:xfrm>
          <a:prstGeom prst="rect">
            <a:avLst/>
          </a:prstGeom>
          <a:noFill/>
          <a:ln/>
        </p:spPr>
        <p:txBody>
          <a:bodyPr wrap="none" lIns="0" tIns="0" rIns="0" bIns="0" rtlCol="0" anchor="t"/>
          <a:lstStyle/>
          <a:p>
            <a:pPr marL="0" indent="0" algn="ctr">
              <a:lnSpc>
                <a:spcPts val="2250"/>
              </a:lnSpc>
              <a:buNone/>
            </a:pPr>
            <a:r>
              <a:rPr lang="en-US" sz="1800" dirty="0">
                <a:solidFill>
                  <a:srgbClr val="CFCBBF"/>
                </a:solidFill>
                <a:latin typeface="Prata" pitchFamily="34" charset="0"/>
                <a:ea typeface="Prata" pitchFamily="34" charset="-122"/>
                <a:cs typeface="Prata" pitchFamily="34" charset="-120"/>
              </a:rPr>
              <a:t>Political Will</a:t>
            </a:r>
            <a:endParaRPr lang="en-US" sz="1800" dirty="0"/>
          </a:p>
        </p:txBody>
      </p:sp>
      <p:sp>
        <p:nvSpPr>
          <p:cNvPr id="9" name="Text 6"/>
          <p:cNvSpPr/>
          <p:nvPr/>
        </p:nvSpPr>
        <p:spPr>
          <a:xfrm>
            <a:off x="4711184" y="3367802"/>
            <a:ext cx="3783092" cy="1187768"/>
          </a:xfrm>
          <a:prstGeom prst="rect">
            <a:avLst/>
          </a:prstGeom>
          <a:noFill/>
          <a:ln/>
        </p:spPr>
        <p:txBody>
          <a:bodyPr wrap="square" lIns="0" tIns="0" rIns="0" bIns="0" rtlCol="0" anchor="t"/>
          <a:lstStyle/>
          <a:p>
            <a:pPr marL="0" indent="0" algn="ctr">
              <a:lnSpc>
                <a:spcPts val="2300"/>
              </a:lnSpc>
              <a:buNone/>
            </a:pPr>
            <a:r>
              <a:rPr lang="en-US" sz="1450" dirty="0">
                <a:solidFill>
                  <a:srgbClr val="CFCBBF"/>
                </a:solidFill>
                <a:latin typeface="Raleway" pitchFamily="34" charset="0"/>
                <a:ea typeface="Raleway" pitchFamily="34" charset="-122"/>
                <a:cs typeface="Raleway" pitchFamily="34" charset="-120"/>
              </a:rPr>
              <a:t>Lack of political will and commitment to gender equality can hinder progress. Governments need to prioritize policies and initiatives that address gender disparities.</a:t>
            </a:r>
            <a:endParaRPr lang="en-US" sz="1450" dirty="0"/>
          </a:p>
        </p:txBody>
      </p:sp>
      <p:sp>
        <p:nvSpPr>
          <p:cNvPr id="10" name="Text 7"/>
          <p:cNvSpPr/>
          <p:nvPr/>
        </p:nvSpPr>
        <p:spPr>
          <a:xfrm>
            <a:off x="2680454" y="5205293"/>
            <a:ext cx="3782973" cy="612577"/>
          </a:xfrm>
          <a:prstGeom prst="rect">
            <a:avLst/>
          </a:prstGeom>
          <a:noFill/>
          <a:ln/>
        </p:spPr>
        <p:txBody>
          <a:bodyPr wrap="none" lIns="0" tIns="0" rIns="0" bIns="0" rtlCol="0" anchor="t"/>
          <a:lstStyle/>
          <a:p>
            <a:pPr marL="0" indent="0" algn="ctr">
              <a:lnSpc>
                <a:spcPts val="4800"/>
              </a:lnSpc>
              <a:buNone/>
            </a:pPr>
            <a:r>
              <a:rPr lang="en-US" sz="4800" dirty="0">
                <a:solidFill>
                  <a:srgbClr val="CFCBBF"/>
                </a:solidFill>
                <a:latin typeface="Prata" pitchFamily="34" charset="0"/>
                <a:ea typeface="Prata" pitchFamily="34" charset="-122"/>
                <a:cs typeface="Prata" pitchFamily="34" charset="-120"/>
              </a:rPr>
              <a:t>3</a:t>
            </a:r>
            <a:endParaRPr lang="en-US" sz="4800" dirty="0"/>
          </a:p>
        </p:txBody>
      </p:sp>
      <p:sp>
        <p:nvSpPr>
          <p:cNvPr id="11" name="Text 8"/>
          <p:cNvSpPr/>
          <p:nvPr/>
        </p:nvSpPr>
        <p:spPr>
          <a:xfrm>
            <a:off x="3411617" y="6049804"/>
            <a:ext cx="2320647" cy="290036"/>
          </a:xfrm>
          <a:prstGeom prst="rect">
            <a:avLst/>
          </a:prstGeom>
          <a:noFill/>
          <a:ln/>
        </p:spPr>
        <p:txBody>
          <a:bodyPr wrap="none" lIns="0" tIns="0" rIns="0" bIns="0" rtlCol="0" anchor="t"/>
          <a:lstStyle/>
          <a:p>
            <a:pPr marL="0" indent="0" algn="ctr">
              <a:lnSpc>
                <a:spcPts val="2250"/>
              </a:lnSpc>
              <a:buNone/>
            </a:pPr>
            <a:r>
              <a:rPr lang="en-US" sz="1800" dirty="0">
                <a:solidFill>
                  <a:srgbClr val="CFCBBF"/>
                </a:solidFill>
                <a:latin typeface="Prata" pitchFamily="34" charset="0"/>
                <a:ea typeface="Prata" pitchFamily="34" charset="-122"/>
                <a:cs typeface="Prata" pitchFamily="34" charset="-120"/>
              </a:rPr>
              <a:t>Resource Allocation</a:t>
            </a:r>
            <a:endParaRPr lang="en-US" sz="1800" dirty="0"/>
          </a:p>
        </p:txBody>
      </p:sp>
      <p:sp>
        <p:nvSpPr>
          <p:cNvPr id="12" name="Text 9"/>
          <p:cNvSpPr/>
          <p:nvPr/>
        </p:nvSpPr>
        <p:spPr>
          <a:xfrm>
            <a:off x="2680454" y="6451163"/>
            <a:ext cx="3782973" cy="1187768"/>
          </a:xfrm>
          <a:prstGeom prst="rect">
            <a:avLst/>
          </a:prstGeom>
          <a:noFill/>
          <a:ln/>
        </p:spPr>
        <p:txBody>
          <a:bodyPr wrap="square" lIns="0" tIns="0" rIns="0" bIns="0" rtlCol="0" anchor="t"/>
          <a:lstStyle/>
          <a:p>
            <a:pPr marL="0" indent="0" algn="ctr">
              <a:lnSpc>
                <a:spcPts val="2300"/>
              </a:lnSpc>
              <a:buNone/>
            </a:pPr>
            <a:r>
              <a:rPr lang="en-US" sz="1450" dirty="0">
                <a:solidFill>
                  <a:srgbClr val="CFCBBF"/>
                </a:solidFill>
                <a:latin typeface="Raleway" pitchFamily="34" charset="0"/>
                <a:ea typeface="Raleway" pitchFamily="34" charset="-122"/>
                <a:cs typeface="Raleway" pitchFamily="34" charset="-120"/>
              </a:rPr>
              <a:t>Adequate funding and resources are crucial for implementing gender equality initiatives effectively. Lack of funding can limit the reach and impact of these programs.</a:t>
            </a:r>
            <a:endParaRPr lang="en-US" sz="145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19</TotalTime>
  <Words>980</Words>
  <Application>Microsoft Office PowerPoint</Application>
  <PresentationFormat>Custom</PresentationFormat>
  <Paragraphs>82</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Suprit Panda</cp:lastModifiedBy>
  <cp:revision>4</cp:revision>
  <dcterms:created xsi:type="dcterms:W3CDTF">2025-01-28T16:04:52Z</dcterms:created>
  <dcterms:modified xsi:type="dcterms:W3CDTF">2025-01-29T01:50:39Z</dcterms:modified>
</cp:coreProperties>
</file>